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42" d="100"/>
          <a:sy n="42" d="100"/>
        </p:scale>
        <p:origin x="2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4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0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2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8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4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9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8089D-4890-418C-8312-46DCD91BEE9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A7ADC-DC74-DE9E-8B1C-EC5CF934E9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11866881"/>
            <a:ext cx="1096566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Foot Locker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334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900F-9AD2-B221-4C7D-D1452CCA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FADB57-934F-9285-8762-A04754C5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31"/>
            <a:ext cx="6858000" cy="521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53E21D-5DDA-934A-BCDA-A71343FEDE89}"/>
              </a:ext>
            </a:extLst>
          </p:cNvPr>
          <p:cNvSpPr/>
          <p:nvPr/>
        </p:nvSpPr>
        <p:spPr>
          <a:xfrm>
            <a:off x="0" y="517880"/>
            <a:ext cx="6858000" cy="1298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7558D-D9CF-7DF3-AFB2-106658EF77F9}"/>
              </a:ext>
            </a:extLst>
          </p:cNvPr>
          <p:cNvSpPr txBox="1"/>
          <p:nvPr/>
        </p:nvSpPr>
        <p:spPr>
          <a:xfrm>
            <a:off x="0" y="72508"/>
            <a:ext cx="576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SuccessFactors: 2025 Performance Form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6B05A2-FE85-5125-D06C-E07B80CEA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66" y="701589"/>
            <a:ext cx="4144434" cy="367623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E9647F-5055-E005-544C-7EBBFA55B083}"/>
              </a:ext>
            </a:extLst>
          </p:cNvPr>
          <p:cNvSpPr txBox="1"/>
          <p:nvPr/>
        </p:nvSpPr>
        <p:spPr>
          <a:xfrm>
            <a:off x="0" y="1339674"/>
            <a:ext cx="2393343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Route map displays steps of the Performance process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C70F38-4F4A-19AE-4EB8-7224DB3E6B30}"/>
              </a:ext>
            </a:extLst>
          </p:cNvPr>
          <p:cNvSpPr/>
          <p:nvPr/>
        </p:nvSpPr>
        <p:spPr>
          <a:xfrm>
            <a:off x="3498574" y="1717481"/>
            <a:ext cx="243692" cy="222523"/>
          </a:xfrm>
          <a:prstGeom prst="roundRect">
            <a:avLst>
              <a:gd name="adj" fmla="val 14911"/>
            </a:avLst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C3E12B-20E9-B2BF-C2C5-220576A7596D}"/>
              </a:ext>
            </a:extLst>
          </p:cNvPr>
          <p:cNvSpPr/>
          <p:nvPr/>
        </p:nvSpPr>
        <p:spPr>
          <a:xfrm>
            <a:off x="2713566" y="1599840"/>
            <a:ext cx="4144434" cy="461665"/>
          </a:xfrm>
          <a:prstGeom prst="roundRect">
            <a:avLst/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2E729-A8C4-5C0C-9F25-51589B6E9562}"/>
              </a:ext>
            </a:extLst>
          </p:cNvPr>
          <p:cNvSpPr txBox="1"/>
          <p:nvPr/>
        </p:nvSpPr>
        <p:spPr>
          <a:xfrm>
            <a:off x="-22033" y="1712807"/>
            <a:ext cx="2393344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10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Hovering over this icon to see who has access to each step in the performance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63BC8A-B286-1D37-9C45-1A6D19C310C0}"/>
              </a:ext>
            </a:extLst>
          </p:cNvPr>
          <p:cNvSpPr txBox="1"/>
          <p:nvPr/>
        </p:nvSpPr>
        <p:spPr>
          <a:xfrm>
            <a:off x="0" y="2792396"/>
            <a:ext cx="2785531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10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Review dates section displays who launched the Performance Form, the Review period dates and Due date of the Form Completion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459512-C6C8-ACA5-2134-F42C215603DB}"/>
              </a:ext>
            </a:extLst>
          </p:cNvPr>
          <p:cNvSpPr/>
          <p:nvPr/>
        </p:nvSpPr>
        <p:spPr>
          <a:xfrm>
            <a:off x="2749549" y="2852690"/>
            <a:ext cx="992717" cy="461665"/>
          </a:xfrm>
          <a:prstGeom prst="roundRect">
            <a:avLst/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4F3B71-8452-8F50-4700-6BDBCD21D8DC}"/>
              </a:ext>
            </a:extLst>
          </p:cNvPr>
          <p:cNvSpPr/>
          <p:nvPr/>
        </p:nvSpPr>
        <p:spPr>
          <a:xfrm>
            <a:off x="2713566" y="2100422"/>
            <a:ext cx="2652327" cy="699925"/>
          </a:xfrm>
          <a:prstGeom prst="roundRect">
            <a:avLst/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B3C00C-F06A-1606-3C0D-233F75D7E50B}"/>
              </a:ext>
            </a:extLst>
          </p:cNvPr>
          <p:cNvCxnSpPr>
            <a:cxnSpLocks/>
          </p:cNvCxnSpPr>
          <p:nvPr/>
        </p:nvCxnSpPr>
        <p:spPr>
          <a:xfrm>
            <a:off x="2364352" y="1496473"/>
            <a:ext cx="38519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57B092-3101-976A-50AC-E3BE19B99D1D}"/>
              </a:ext>
            </a:extLst>
          </p:cNvPr>
          <p:cNvCxnSpPr>
            <a:cxnSpLocks/>
          </p:cNvCxnSpPr>
          <p:nvPr/>
        </p:nvCxnSpPr>
        <p:spPr>
          <a:xfrm>
            <a:off x="2461922" y="3088059"/>
            <a:ext cx="23533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70DEF6-C941-5950-8219-C2BF3318CEAC}"/>
              </a:ext>
            </a:extLst>
          </p:cNvPr>
          <p:cNvSpPr txBox="1"/>
          <p:nvPr/>
        </p:nvSpPr>
        <p:spPr>
          <a:xfrm>
            <a:off x="55659" y="1339675"/>
            <a:ext cx="2242268" cy="973296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35ACA1-384A-94EC-7CAC-B05617AD3E75}"/>
              </a:ext>
            </a:extLst>
          </p:cNvPr>
          <p:cNvSpPr txBox="1"/>
          <p:nvPr/>
        </p:nvSpPr>
        <p:spPr>
          <a:xfrm>
            <a:off x="52496" y="2768720"/>
            <a:ext cx="2511413" cy="623811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7E25D76-150A-3641-E1D0-11297E91D6B1}"/>
              </a:ext>
            </a:extLst>
          </p:cNvPr>
          <p:cNvCxnSpPr>
            <a:cxnSpLocks/>
          </p:cNvCxnSpPr>
          <p:nvPr/>
        </p:nvCxnSpPr>
        <p:spPr>
          <a:xfrm flipV="1">
            <a:off x="2258392" y="1868905"/>
            <a:ext cx="1357443" cy="10620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F7CB9C03-F8CD-C0C5-5CE2-7E1F8F837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257" y="4529247"/>
            <a:ext cx="4144434" cy="62862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8E75A3E7-3EAD-C3AC-5FAD-3128492001DC}"/>
              </a:ext>
            </a:extLst>
          </p:cNvPr>
          <p:cNvSpPr txBox="1"/>
          <p:nvPr/>
        </p:nvSpPr>
        <p:spPr>
          <a:xfrm>
            <a:off x="52254" y="5147235"/>
            <a:ext cx="2552502" cy="623811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C53A94-AE1D-2B71-6C3E-6B1F908F1DE0}"/>
              </a:ext>
            </a:extLst>
          </p:cNvPr>
          <p:cNvSpPr txBox="1"/>
          <p:nvPr/>
        </p:nvSpPr>
        <p:spPr>
          <a:xfrm>
            <a:off x="4448" y="5147206"/>
            <a:ext cx="2552502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10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Team Member provides comments and self- ratings for each goal category - Business Goals , People and Culture Goals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20C5AA8-A555-CD5D-C674-E15B00525A5D}"/>
              </a:ext>
            </a:extLst>
          </p:cNvPr>
          <p:cNvSpPr/>
          <p:nvPr/>
        </p:nvSpPr>
        <p:spPr>
          <a:xfrm>
            <a:off x="2709324" y="5476875"/>
            <a:ext cx="538701" cy="294171"/>
          </a:xfrm>
          <a:prstGeom prst="roundRect">
            <a:avLst/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2EA9A12-FB43-04AC-81C9-00F3A34B65F6}"/>
              </a:ext>
            </a:extLst>
          </p:cNvPr>
          <p:cNvCxnSpPr>
            <a:cxnSpLocks/>
          </p:cNvCxnSpPr>
          <p:nvPr/>
        </p:nvCxnSpPr>
        <p:spPr>
          <a:xfrm>
            <a:off x="2473989" y="5683622"/>
            <a:ext cx="23533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ECE6092-1AD5-A527-DFE3-C3659FDB1258}"/>
              </a:ext>
            </a:extLst>
          </p:cNvPr>
          <p:cNvSpPr/>
          <p:nvPr/>
        </p:nvSpPr>
        <p:spPr>
          <a:xfrm>
            <a:off x="2701919" y="5905378"/>
            <a:ext cx="4056064" cy="1100259"/>
          </a:xfrm>
          <a:prstGeom prst="roundRect">
            <a:avLst/>
          </a:prstGeom>
          <a:noFill/>
          <a:ln w="1905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43B732-AA2D-82A9-214A-521BC8A04EC7}"/>
              </a:ext>
            </a:extLst>
          </p:cNvPr>
          <p:cNvSpPr txBox="1"/>
          <p:nvPr/>
        </p:nvSpPr>
        <p:spPr>
          <a:xfrm>
            <a:off x="33568" y="6245310"/>
            <a:ext cx="2428354" cy="760328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66B20D-CBF1-2DE0-7F24-D63C6871EF1F}"/>
              </a:ext>
            </a:extLst>
          </p:cNvPr>
          <p:cNvSpPr txBox="1"/>
          <p:nvPr/>
        </p:nvSpPr>
        <p:spPr>
          <a:xfrm>
            <a:off x="33568" y="6335716"/>
            <a:ext cx="2440422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10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provides comments and ratings for each goal category - Business Goals , People and Culture Goals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02F8C5-08E8-E4C4-1CF0-089813B839B8}"/>
              </a:ext>
            </a:extLst>
          </p:cNvPr>
          <p:cNvCxnSpPr>
            <a:cxnSpLocks/>
          </p:cNvCxnSpPr>
          <p:nvPr/>
        </p:nvCxnSpPr>
        <p:spPr>
          <a:xfrm>
            <a:off x="2419090" y="6669459"/>
            <a:ext cx="235335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74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590B-380A-2D7E-C0B1-2192D8CB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D362D99C-A72A-C43E-BC35-DE7685A742C8}"/>
              </a:ext>
            </a:extLst>
          </p:cNvPr>
          <p:cNvSpPr txBox="1"/>
          <p:nvPr/>
        </p:nvSpPr>
        <p:spPr>
          <a:xfrm>
            <a:off x="68041" y="8174190"/>
            <a:ext cx="2038732" cy="986353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75B214-8184-A7E1-8DB7-1EE2731DE5B7}"/>
              </a:ext>
            </a:extLst>
          </p:cNvPr>
          <p:cNvSpPr txBox="1"/>
          <p:nvPr/>
        </p:nvSpPr>
        <p:spPr>
          <a:xfrm>
            <a:off x="46503" y="9224965"/>
            <a:ext cx="2049370" cy="678611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490E1-C0DB-C73B-A4AB-39A9106E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749" y="6725898"/>
            <a:ext cx="2614402" cy="14511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C85129-C3F2-6C21-D683-76041B1B5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531"/>
            <a:ext cx="6858000" cy="521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B5EE5-B6AA-CA6E-4A6D-90F4C84BC238}"/>
              </a:ext>
            </a:extLst>
          </p:cNvPr>
          <p:cNvSpPr/>
          <p:nvPr/>
        </p:nvSpPr>
        <p:spPr>
          <a:xfrm>
            <a:off x="0" y="517880"/>
            <a:ext cx="6858000" cy="1298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8F762-4270-E83D-7CCE-0724D2D01506}"/>
              </a:ext>
            </a:extLst>
          </p:cNvPr>
          <p:cNvSpPr txBox="1"/>
          <p:nvPr/>
        </p:nvSpPr>
        <p:spPr>
          <a:xfrm>
            <a:off x="0" y="72508"/>
            <a:ext cx="576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SuccessFactors: 2025 Performance Form Screenshots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0CA5E-9F68-FA9F-04E8-4A860DF4D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487" y="690661"/>
            <a:ext cx="3808318" cy="58875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5D654F-A6A9-3F99-1CC7-1D371E88C58F}"/>
              </a:ext>
            </a:extLst>
          </p:cNvPr>
          <p:cNvSpPr txBox="1"/>
          <p:nvPr/>
        </p:nvSpPr>
        <p:spPr>
          <a:xfrm>
            <a:off x="86252" y="4131630"/>
            <a:ext cx="2201355" cy="1354587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63303-69F4-7587-2A0C-9AAF070B5024}"/>
              </a:ext>
            </a:extLst>
          </p:cNvPr>
          <p:cNvSpPr txBox="1"/>
          <p:nvPr/>
        </p:nvSpPr>
        <p:spPr>
          <a:xfrm>
            <a:off x="86253" y="4131630"/>
            <a:ext cx="2153457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Team member adds self- ratings on Leadership Competencies .</a:t>
            </a:r>
          </a:p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Team member forwards the form to the next step. </a:t>
            </a:r>
          </a:p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The Form moves to the Team Member’s manager</a:t>
            </a:r>
          </a:p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finds it on Home page - ‘Manager Assessment’ tile.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EFDD01-EBDF-4855-46AB-3C80C3DB39EC}"/>
              </a:ext>
            </a:extLst>
          </p:cNvPr>
          <p:cNvSpPr/>
          <p:nvPr/>
        </p:nvSpPr>
        <p:spPr>
          <a:xfrm>
            <a:off x="2671526" y="4610101"/>
            <a:ext cx="3976924" cy="983360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 hangingPunct="0"/>
            <a:endParaRPr lang="en-US" sz="3200">
              <a:solidFill>
                <a:srgbClr val="FFFFFF"/>
              </a:solidFill>
              <a:latin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3EA01D-5970-3B1F-3FD3-A26AA065DD31}"/>
              </a:ext>
            </a:extLst>
          </p:cNvPr>
          <p:cNvCxnSpPr>
            <a:cxnSpLocks/>
          </p:cNvCxnSpPr>
          <p:nvPr/>
        </p:nvCxnSpPr>
        <p:spPr>
          <a:xfrm>
            <a:off x="2328609" y="4926078"/>
            <a:ext cx="33956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661A54-3F25-9598-F2A5-88E6D5EF29AA}"/>
              </a:ext>
            </a:extLst>
          </p:cNvPr>
          <p:cNvSpPr txBox="1"/>
          <p:nvPr/>
        </p:nvSpPr>
        <p:spPr>
          <a:xfrm>
            <a:off x="62694" y="6968481"/>
            <a:ext cx="2049370" cy="1150536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2247D-326E-6EC3-5890-07AF9934311F}"/>
              </a:ext>
            </a:extLst>
          </p:cNvPr>
          <p:cNvSpPr txBox="1"/>
          <p:nvPr/>
        </p:nvSpPr>
        <p:spPr>
          <a:xfrm>
            <a:off x="0" y="6968481"/>
            <a:ext cx="2101426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overrides ‘Overall Rating’ manually and sends the form to the next step to calibration.</a:t>
            </a:r>
          </a:p>
          <a:p>
            <a:pPr marL="171450" indent="-171450" defTabSz="2438338" hangingPunct="0">
              <a:buClrTx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finds it on Home page as ‘Calibration’ tile</a:t>
            </a:r>
            <a:r>
              <a:rPr lang="en-US" sz="1100" dirty="0"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.</a:t>
            </a:r>
            <a:endParaRPr lang="en-US" sz="1200" dirty="0">
              <a:solidFill>
                <a:schemeClr val="tx1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64AE8B-DA8C-76C9-B5FF-97D784CE6647}"/>
              </a:ext>
            </a:extLst>
          </p:cNvPr>
          <p:cNvSpPr/>
          <p:nvPr/>
        </p:nvSpPr>
        <p:spPr>
          <a:xfrm>
            <a:off x="2709589" y="5648634"/>
            <a:ext cx="4029349" cy="1036343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08DAB2-34F4-9CF3-02A3-170D03224E2F}"/>
              </a:ext>
            </a:extLst>
          </p:cNvPr>
          <p:cNvSpPr/>
          <p:nvPr/>
        </p:nvSpPr>
        <p:spPr>
          <a:xfrm>
            <a:off x="2795801" y="7109000"/>
            <a:ext cx="504613" cy="176210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0BBE9B-9CDC-57AF-110E-512659DE085E}"/>
              </a:ext>
            </a:extLst>
          </p:cNvPr>
          <p:cNvCxnSpPr>
            <a:cxnSpLocks/>
          </p:cNvCxnSpPr>
          <p:nvPr/>
        </p:nvCxnSpPr>
        <p:spPr>
          <a:xfrm>
            <a:off x="2160959" y="7237486"/>
            <a:ext cx="582241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FE4FB41-C41F-49FF-C8D3-7FDB14B503AD}"/>
              </a:ext>
            </a:extLst>
          </p:cNvPr>
          <p:cNvSpPr txBox="1"/>
          <p:nvPr/>
        </p:nvSpPr>
        <p:spPr>
          <a:xfrm>
            <a:off x="169849" y="5882459"/>
            <a:ext cx="2135201" cy="5770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provides Leadership Competency Rating for th</a:t>
            </a:r>
            <a:r>
              <a:rPr lang="en-US" sz="1050" dirty="0"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e Team Member</a:t>
            </a:r>
            <a:endParaRPr lang="en-US" sz="1050" dirty="0">
              <a:solidFill>
                <a:schemeClr val="tx1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9BCDC4-0AE1-5EF3-F454-E2477D2D76F4}"/>
              </a:ext>
            </a:extLst>
          </p:cNvPr>
          <p:cNvSpPr txBox="1"/>
          <p:nvPr/>
        </p:nvSpPr>
        <p:spPr>
          <a:xfrm>
            <a:off x="102401" y="5900623"/>
            <a:ext cx="2185206" cy="557721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D679DD-8394-9310-EE88-E2C14E1A5622}"/>
              </a:ext>
            </a:extLst>
          </p:cNvPr>
          <p:cNvCxnSpPr>
            <a:cxnSpLocks/>
          </p:cNvCxnSpPr>
          <p:nvPr/>
        </p:nvCxnSpPr>
        <p:spPr>
          <a:xfrm>
            <a:off x="2390537" y="6150040"/>
            <a:ext cx="33956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2A15E1C3-F895-F6D5-90A4-77E80D96A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749" y="8232837"/>
            <a:ext cx="3085889" cy="753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D56B436-10F2-B34C-4119-4182210E53DB}"/>
              </a:ext>
            </a:extLst>
          </p:cNvPr>
          <p:cNvSpPr txBox="1"/>
          <p:nvPr/>
        </p:nvSpPr>
        <p:spPr>
          <a:xfrm>
            <a:off x="24203" y="8174665"/>
            <a:ext cx="2115714" cy="10618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After Calibration step is completed, the form is forwarded to the next step</a:t>
            </a:r>
          </a:p>
          <a:p>
            <a:pPr marL="171450" indent="-171450" defTabSz="2438338" hangingPunct="0">
              <a:buFont typeface="Arial" panose="020B0604020202020204" pitchFamily="34" charset="0"/>
              <a:buChar char="•"/>
            </a:pPr>
            <a:r>
              <a:rPr lang="en-US" sz="1050" dirty="0"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GMPM administrator finds the request on Home page as ‘GMPM Review’ tile.</a:t>
            </a:r>
            <a:endParaRPr lang="en-US" sz="1200" dirty="0">
              <a:solidFill>
                <a:schemeClr val="tx1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AE465EB-D74B-460F-871C-FDC5B41C738D}"/>
              </a:ext>
            </a:extLst>
          </p:cNvPr>
          <p:cNvSpPr/>
          <p:nvPr/>
        </p:nvSpPr>
        <p:spPr>
          <a:xfrm>
            <a:off x="2757487" y="8433421"/>
            <a:ext cx="671513" cy="126681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8939661-7268-1257-74CD-74F89A57F891}"/>
              </a:ext>
            </a:extLst>
          </p:cNvPr>
          <p:cNvCxnSpPr>
            <a:cxnSpLocks/>
          </p:cNvCxnSpPr>
          <p:nvPr/>
        </p:nvCxnSpPr>
        <p:spPr>
          <a:xfrm>
            <a:off x="2115016" y="8490024"/>
            <a:ext cx="582241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D8F275CF-7307-2ABB-EB61-1B39551F0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7487" y="9072211"/>
            <a:ext cx="1263072" cy="10697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D8D5A32-FF70-7E5B-0CFF-3603FE571A5F}"/>
              </a:ext>
            </a:extLst>
          </p:cNvPr>
          <p:cNvSpPr/>
          <p:nvPr/>
        </p:nvSpPr>
        <p:spPr>
          <a:xfrm>
            <a:off x="3281152" y="9690510"/>
            <a:ext cx="800099" cy="491364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CC78A2-B214-2E81-F0D8-DFAB75A11702}"/>
              </a:ext>
            </a:extLst>
          </p:cNvPr>
          <p:cNvSpPr txBox="1"/>
          <p:nvPr/>
        </p:nvSpPr>
        <p:spPr>
          <a:xfrm>
            <a:off x="-16261" y="9194939"/>
            <a:ext cx="1990479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Post Completion of GMPM Review, Manager will find 1:1 meeting step on the Homepage tile – 1:1 Meeting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F8B616-32B3-B368-BE98-DB930DE28069}"/>
              </a:ext>
            </a:extLst>
          </p:cNvPr>
          <p:cNvSpPr txBox="1"/>
          <p:nvPr/>
        </p:nvSpPr>
        <p:spPr>
          <a:xfrm>
            <a:off x="1" y="9949530"/>
            <a:ext cx="2058936" cy="900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will forward the form for Team member’s signature once 1:1 meeting step will be completed and confirmed</a:t>
            </a:r>
          </a:p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Team member will sign the form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B9C8ED-4558-BABC-E9A4-8B9B087001EB}"/>
              </a:ext>
            </a:extLst>
          </p:cNvPr>
          <p:cNvCxnSpPr>
            <a:cxnSpLocks/>
          </p:cNvCxnSpPr>
          <p:nvPr/>
        </p:nvCxnSpPr>
        <p:spPr>
          <a:xfrm>
            <a:off x="2082164" y="9745683"/>
            <a:ext cx="1327574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C1D91483-204E-A4A1-28A7-7E8EDBB742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0699" y="9079108"/>
            <a:ext cx="1263072" cy="11027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7BA7AE9-744F-06C0-856C-DB97CF4AFFE4}"/>
              </a:ext>
            </a:extLst>
          </p:cNvPr>
          <p:cNvSpPr txBox="1"/>
          <p:nvPr/>
        </p:nvSpPr>
        <p:spPr>
          <a:xfrm>
            <a:off x="47878" y="9958749"/>
            <a:ext cx="2176545" cy="827361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6D64B70-9D9B-B36B-7BFC-74223685D82C}"/>
              </a:ext>
            </a:extLst>
          </p:cNvPr>
          <p:cNvCxnSpPr>
            <a:cxnSpLocks/>
          </p:cNvCxnSpPr>
          <p:nvPr/>
        </p:nvCxnSpPr>
        <p:spPr>
          <a:xfrm flipV="1">
            <a:off x="2186186" y="10097573"/>
            <a:ext cx="3185703" cy="32649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284BB8D-4970-9565-1D86-A29823E5FDDF}"/>
              </a:ext>
            </a:extLst>
          </p:cNvPr>
          <p:cNvSpPr/>
          <p:nvPr/>
        </p:nvSpPr>
        <p:spPr>
          <a:xfrm>
            <a:off x="4786759" y="9716367"/>
            <a:ext cx="694668" cy="381205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A5F8CBB-CAB6-0713-5219-C46DFE6E45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1280" y="10533763"/>
            <a:ext cx="3690937" cy="6128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48723CC-766C-A0AC-823D-50A4ADC76D41}"/>
              </a:ext>
            </a:extLst>
          </p:cNvPr>
          <p:cNvSpPr txBox="1"/>
          <p:nvPr/>
        </p:nvSpPr>
        <p:spPr>
          <a:xfrm>
            <a:off x="-16261" y="10856831"/>
            <a:ext cx="2555375" cy="900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Manager will sign the form.</a:t>
            </a:r>
          </a:p>
          <a:p>
            <a:pPr marL="171450" marR="0" indent="-17145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Team member , manager and HR Champion will each get a copy of this completed signed form in their Outlook as email and will be stored in SF as well.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A359E-68FF-B904-D338-CBDAF345380A}"/>
              </a:ext>
            </a:extLst>
          </p:cNvPr>
          <p:cNvSpPr txBox="1"/>
          <p:nvPr/>
        </p:nvSpPr>
        <p:spPr>
          <a:xfrm>
            <a:off x="46503" y="10866755"/>
            <a:ext cx="2344034" cy="877935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C299098E-A69D-923D-8148-69C0C4657800}"/>
              </a:ext>
            </a:extLst>
          </p:cNvPr>
          <p:cNvCxnSpPr>
            <a:cxnSpLocks/>
          </p:cNvCxnSpPr>
          <p:nvPr/>
        </p:nvCxnSpPr>
        <p:spPr>
          <a:xfrm flipV="1">
            <a:off x="2406136" y="11173442"/>
            <a:ext cx="2797480" cy="405663"/>
          </a:xfrm>
          <a:prstGeom prst="bentConnector3">
            <a:avLst>
              <a:gd name="adj1" fmla="val 10005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91DF709-571D-F50E-2638-08A758D688AF}"/>
              </a:ext>
            </a:extLst>
          </p:cNvPr>
          <p:cNvSpPr/>
          <p:nvPr/>
        </p:nvSpPr>
        <p:spPr>
          <a:xfrm>
            <a:off x="4928448" y="10812261"/>
            <a:ext cx="694668" cy="381205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08B85824-F2F6-6418-89D2-D3B60485674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3324"/>
          <a:stretch>
            <a:fillRect/>
          </a:stretch>
        </p:blipFill>
        <p:spPr>
          <a:xfrm>
            <a:off x="3048107" y="11674120"/>
            <a:ext cx="2894527" cy="4270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5178AE6-9C68-C97E-CA07-667F56DDB59A}"/>
              </a:ext>
            </a:extLst>
          </p:cNvPr>
          <p:cNvSpPr/>
          <p:nvPr/>
        </p:nvSpPr>
        <p:spPr>
          <a:xfrm>
            <a:off x="5371889" y="11920538"/>
            <a:ext cx="661882" cy="217744"/>
          </a:xfrm>
          <a:prstGeom prst="round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0FA566C-F754-9B98-D7C0-856510201D2A}"/>
              </a:ext>
            </a:extLst>
          </p:cNvPr>
          <p:cNvSpPr txBox="1"/>
          <p:nvPr/>
        </p:nvSpPr>
        <p:spPr>
          <a:xfrm>
            <a:off x="1050713" y="11783904"/>
            <a:ext cx="1668634" cy="4154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050" dirty="0">
                <a:solidFill>
                  <a:schemeClr val="tx1"/>
                </a:solidFill>
                <a:latin typeface="Aptos Narrow" panose="020B0004020202020204" pitchFamily="34" charset="0"/>
                <a:ea typeface="FootLocker FL Standard"/>
                <a:cs typeface="FootLocker FL Standard"/>
                <a:sym typeface="FootLocker FL Standard"/>
              </a:rPr>
              <a:t>Route form will display as Completed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B02168-56BF-56FB-64FF-9C68822189AC}"/>
              </a:ext>
            </a:extLst>
          </p:cNvPr>
          <p:cNvSpPr txBox="1"/>
          <p:nvPr/>
        </p:nvSpPr>
        <p:spPr>
          <a:xfrm>
            <a:off x="1124445" y="11827798"/>
            <a:ext cx="1543731" cy="324957"/>
          </a:xfrm>
          <a:prstGeom prst="rect">
            <a:avLst/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>
              <a:solidFill>
                <a:srgbClr val="5E5E5E"/>
              </a:solidFill>
              <a:latin typeface="Aptos Narrow" panose="020B0004020202020204" pitchFamily="34" charset="0"/>
              <a:ea typeface="FootLocker FL Standard"/>
              <a:cs typeface="FootLocker FL Standard"/>
              <a:sym typeface="FootLocker FL Standard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D8892EB-D9A1-E9FA-A3F3-E870C9F28C09}"/>
              </a:ext>
            </a:extLst>
          </p:cNvPr>
          <p:cNvCxnSpPr>
            <a:cxnSpLocks/>
          </p:cNvCxnSpPr>
          <p:nvPr/>
        </p:nvCxnSpPr>
        <p:spPr>
          <a:xfrm>
            <a:off x="2611280" y="12029410"/>
            <a:ext cx="582241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9088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b83e9d4-1f85-4e06-a066-aef1d46ef089}" enabled="1" method="Standard" siteId="{3698556c-48eb-4511-8a0e-5fb6b7ebb01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752</TotalTime>
  <Words>287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Helvetica Neue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Ashley Brijmohan</dc:creator>
  <cp:lastModifiedBy>Angira Dey</cp:lastModifiedBy>
  <cp:revision>3</cp:revision>
  <dcterms:created xsi:type="dcterms:W3CDTF">2023-01-31T19:13:50Z</dcterms:created>
  <dcterms:modified xsi:type="dcterms:W3CDTF">2025-10-24T13:20:29Z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Foot Locker - Internal Use Only</vt:lpwstr>
  </property>
</Properties>
</file>