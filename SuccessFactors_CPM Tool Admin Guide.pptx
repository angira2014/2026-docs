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70" autoAdjust="0"/>
    <p:restoredTop sz="94660"/>
  </p:normalViewPr>
  <p:slideViewPr>
    <p:cSldViewPr snapToGrid="0">
      <p:cViewPr>
        <p:scale>
          <a:sx n="90" d="100"/>
          <a:sy n="90" d="100"/>
        </p:scale>
        <p:origin x="1008" y="-2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6667F3-1E5C-4EB7-9C0B-CDB2FFE28D27}"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382572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667F3-1E5C-4EB7-9C0B-CDB2FFE28D27}"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285080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6667F3-1E5C-4EB7-9C0B-CDB2FFE28D27}"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288944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6667F3-1E5C-4EB7-9C0B-CDB2FFE28D27}" type="datetimeFigureOut">
              <a:rPr lang="en-US" smtClean="0"/>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2612377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6667F3-1E5C-4EB7-9C0B-CDB2FFE28D27}" type="datetimeFigureOut">
              <a:rPr lang="en-US" smtClean="0"/>
              <a:t>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1266951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6667F3-1E5C-4EB7-9C0B-CDB2FFE28D27}" type="datetimeFigureOut">
              <a:rPr lang="en-US" smtClean="0"/>
              <a:t>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1374384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6667F3-1E5C-4EB7-9C0B-CDB2FFE28D27}" type="datetimeFigureOut">
              <a:rPr lang="en-US" smtClean="0"/>
              <a:t>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3246966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46667F3-1E5C-4EB7-9C0B-CDB2FFE28D27}" type="datetimeFigureOut">
              <a:rPr lang="en-US" smtClean="0"/>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1637039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46667F3-1E5C-4EB7-9C0B-CDB2FFE28D27}" type="datetimeFigureOut">
              <a:rPr lang="en-US" smtClean="0"/>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1558076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667F3-1E5C-4EB7-9C0B-CDB2FFE28D27}"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3498600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667F3-1E5C-4EB7-9C0B-CDB2FFE28D27}"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A9BC8-18E7-4D8D-9D66-70182E2C4569}" type="slidenum">
              <a:rPr lang="en-US" smtClean="0"/>
              <a:t>‹#›</a:t>
            </a:fld>
            <a:endParaRPr lang="en-US"/>
          </a:p>
        </p:txBody>
      </p:sp>
    </p:spTree>
    <p:extLst>
      <p:ext uri="{BB962C8B-B14F-4D97-AF65-F5344CB8AC3E}">
        <p14:creationId xmlns:p14="http://schemas.microsoft.com/office/powerpoint/2010/main" val="177006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446667F3-1E5C-4EB7-9C0B-CDB2FFE28D27}" type="datetimeFigureOut">
              <a:rPr lang="en-US" smtClean="0"/>
              <a:t>2/6/2025</a:t>
            </a:fld>
            <a:endParaRPr 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69AA9BC8-18E7-4D8D-9D66-70182E2C4569}" type="slidenum">
              <a:rPr lang="en-US" smtClean="0"/>
              <a:t>‹#›</a:t>
            </a:fld>
            <a:endParaRPr lang="en-US"/>
          </a:p>
        </p:txBody>
      </p:sp>
      <p:sp>
        <p:nvSpPr>
          <p:cNvPr id="8" name="TextBox 7">
            <a:extLst>
              <a:ext uri="{FF2B5EF4-FFF2-40B4-BE49-F238E27FC236}">
                <a16:creationId xmlns:a16="http://schemas.microsoft.com/office/drawing/2014/main" id="{B51F78FA-0DDA-B0E7-DDFD-D2405A681BC3}"/>
              </a:ext>
            </a:extLst>
          </p:cNvPr>
          <p:cNvSpPr txBox="1"/>
          <p:nvPr userDrawn="1">
            <p:extLst>
              <p:ext uri="{1162E1C5-73C7-4A58-AE30-91384D911F3F}">
                <p184:classification xmlns:p184="http://schemas.microsoft.com/office/powerpoint/2018/4/main" val="ftr"/>
              </p:ext>
            </p:extLst>
          </p:nvPr>
        </p:nvSpPr>
        <p:spPr>
          <a:xfrm>
            <a:off x="63500" y="11945620"/>
            <a:ext cx="1949450" cy="182880"/>
          </a:xfrm>
          <a:prstGeom prst="rect">
            <a:avLst/>
          </a:prstGeom>
        </p:spPr>
        <p:txBody>
          <a:bodyPr horzOverflow="overflow" lIns="0" tIns="0" rIns="0" bIns="0">
            <a:spAutoFit/>
          </a:bodyPr>
          <a:lstStyle/>
          <a:p>
            <a:pPr algn="l"/>
            <a:r>
              <a:rPr lang="en-US" sz="1200">
                <a:solidFill>
                  <a:srgbClr val="FF0000"/>
                </a:solidFill>
                <a:latin typeface="Calibri" panose="020F0502020204030204" pitchFamily="34" charset="0"/>
                <a:ea typeface="Calibri" panose="020F0502020204030204" pitchFamily="34" charset="0"/>
                <a:cs typeface="Calibri" panose="020F0502020204030204" pitchFamily="34" charset="0"/>
              </a:rPr>
              <a:t>Foot Locker - Internal Use Only</a:t>
            </a:r>
          </a:p>
        </p:txBody>
      </p:sp>
    </p:spTree>
    <p:extLst>
      <p:ext uri="{BB962C8B-B14F-4D97-AF65-F5344CB8AC3E}">
        <p14:creationId xmlns:p14="http://schemas.microsoft.com/office/powerpoint/2010/main" val="37021818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hyperlink" Target="https://help.sap.com/docs/SAP_SUCCESSFACTORS_PERFORMANCE_AND_GOALS/80db66fe42a34ee4b248f9f46df6156c/5d8dd07380611014818aab4169f08334.html?q=continuous+performance+management" TargetMode="External"/><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help.sap.com/docs/SAP_SUCCESSFACTORS_PERFORMANCE_AND_GOALS/80db66fe42a34ee4b248f9f46df6156c/5d8dd07380611014818aab4169f08334.html?q=continuous+performance+manage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9776CF-D551-E3C2-81D6-FDFF9B399142}"/>
              </a:ext>
            </a:extLst>
          </p:cNvPr>
          <p:cNvPicPr>
            <a:picLocks noChangeAspect="1"/>
          </p:cNvPicPr>
          <p:nvPr/>
        </p:nvPicPr>
        <p:blipFill>
          <a:blip r:embed="rId2"/>
          <a:stretch>
            <a:fillRect/>
          </a:stretch>
        </p:blipFill>
        <p:spPr>
          <a:xfrm>
            <a:off x="0" y="0"/>
            <a:ext cx="6858000" cy="716280"/>
          </a:xfrm>
          <a:prstGeom prst="rect">
            <a:avLst/>
          </a:prstGeom>
        </p:spPr>
      </p:pic>
      <p:pic>
        <p:nvPicPr>
          <p:cNvPr id="7" name="Picture 6">
            <a:extLst>
              <a:ext uri="{FF2B5EF4-FFF2-40B4-BE49-F238E27FC236}">
                <a16:creationId xmlns:a16="http://schemas.microsoft.com/office/drawing/2014/main" id="{8E5F495A-E395-1BE2-25E5-79B1E2EEDC92}"/>
              </a:ext>
            </a:extLst>
          </p:cNvPr>
          <p:cNvPicPr>
            <a:picLocks noChangeAspect="1"/>
          </p:cNvPicPr>
          <p:nvPr/>
        </p:nvPicPr>
        <p:blipFill>
          <a:blip r:embed="rId3"/>
          <a:stretch>
            <a:fillRect/>
          </a:stretch>
        </p:blipFill>
        <p:spPr>
          <a:xfrm>
            <a:off x="0" y="716280"/>
            <a:ext cx="6858000" cy="129540"/>
          </a:xfrm>
          <a:prstGeom prst="rect">
            <a:avLst/>
          </a:prstGeom>
        </p:spPr>
      </p:pic>
      <p:sp>
        <p:nvSpPr>
          <p:cNvPr id="8" name="TextBox 7">
            <a:extLst>
              <a:ext uri="{FF2B5EF4-FFF2-40B4-BE49-F238E27FC236}">
                <a16:creationId xmlns:a16="http://schemas.microsoft.com/office/drawing/2014/main" id="{9C63B93F-051E-4D87-9FD6-24F6865E931A}"/>
              </a:ext>
            </a:extLst>
          </p:cNvPr>
          <p:cNvSpPr txBox="1"/>
          <p:nvPr/>
        </p:nvSpPr>
        <p:spPr>
          <a:xfrm>
            <a:off x="0" y="34975"/>
            <a:ext cx="5478780" cy="646331"/>
          </a:xfrm>
          <a:prstGeom prst="rect">
            <a:avLst/>
          </a:prstGeom>
          <a:noFill/>
        </p:spPr>
        <p:txBody>
          <a:bodyPr wrap="square" rtlCol="0">
            <a:spAutoFit/>
          </a:bodyPr>
          <a:lstStyle/>
          <a:p>
            <a:r>
              <a:rPr lang="en-US" dirty="0">
                <a:solidFill>
                  <a:schemeClr val="bg1"/>
                </a:solidFill>
                <a:latin typeface="FootLocker FL Classic" panose="00000800000000000000" pitchFamily="50" charset="0"/>
              </a:rPr>
              <a:t>SuccessFactors: Continuous Performance Management Guide</a:t>
            </a:r>
          </a:p>
        </p:txBody>
      </p:sp>
      <p:sp>
        <p:nvSpPr>
          <p:cNvPr id="9" name="TextBox 8">
            <a:extLst>
              <a:ext uri="{FF2B5EF4-FFF2-40B4-BE49-F238E27FC236}">
                <a16:creationId xmlns:a16="http://schemas.microsoft.com/office/drawing/2014/main" id="{C2D3CEEE-5B93-A622-DE6C-2C153BCB90ED}"/>
              </a:ext>
            </a:extLst>
          </p:cNvPr>
          <p:cNvSpPr txBox="1"/>
          <p:nvPr/>
        </p:nvSpPr>
        <p:spPr>
          <a:xfrm>
            <a:off x="0" y="880794"/>
            <a:ext cx="6858000" cy="400110"/>
          </a:xfrm>
          <a:prstGeom prst="rect">
            <a:avLst/>
          </a:prstGeom>
          <a:noFill/>
        </p:spPr>
        <p:txBody>
          <a:bodyPr wrap="square" rtlCol="0">
            <a:spAutoFit/>
          </a:bodyPr>
          <a:lstStyle/>
          <a:p>
            <a:r>
              <a:rPr lang="en-US" sz="1000" dirty="0">
                <a:latin typeface="Foot Locker" panose="02000503000000020003" pitchFamily="50" charset="0"/>
              </a:rPr>
              <a:t>This guide seeks to aid in the administration and configuration of the Continuous Performance Management tool and the Continuous Feedback tool.</a:t>
            </a:r>
          </a:p>
        </p:txBody>
      </p:sp>
      <p:pic>
        <p:nvPicPr>
          <p:cNvPr id="10" name="Picture 9">
            <a:extLst>
              <a:ext uri="{FF2B5EF4-FFF2-40B4-BE49-F238E27FC236}">
                <a16:creationId xmlns:a16="http://schemas.microsoft.com/office/drawing/2014/main" id="{608CD165-A9F6-06E8-4919-580EB40E0D2D}"/>
              </a:ext>
            </a:extLst>
          </p:cNvPr>
          <p:cNvPicPr>
            <a:picLocks noChangeAspect="1"/>
          </p:cNvPicPr>
          <p:nvPr/>
        </p:nvPicPr>
        <p:blipFill>
          <a:blip r:embed="rId3"/>
          <a:stretch>
            <a:fillRect/>
          </a:stretch>
        </p:blipFill>
        <p:spPr>
          <a:xfrm>
            <a:off x="0" y="1254918"/>
            <a:ext cx="6858000" cy="129540"/>
          </a:xfrm>
          <a:prstGeom prst="rect">
            <a:avLst/>
          </a:prstGeom>
        </p:spPr>
      </p:pic>
      <p:sp>
        <p:nvSpPr>
          <p:cNvPr id="11" name="TextBox 10">
            <a:extLst>
              <a:ext uri="{FF2B5EF4-FFF2-40B4-BE49-F238E27FC236}">
                <a16:creationId xmlns:a16="http://schemas.microsoft.com/office/drawing/2014/main" id="{68E32D63-9549-3F19-9C02-250DF1410DF1}"/>
              </a:ext>
            </a:extLst>
          </p:cNvPr>
          <p:cNvSpPr txBox="1"/>
          <p:nvPr/>
        </p:nvSpPr>
        <p:spPr>
          <a:xfrm>
            <a:off x="0" y="1397586"/>
            <a:ext cx="6705600" cy="338554"/>
          </a:xfrm>
          <a:prstGeom prst="rect">
            <a:avLst/>
          </a:prstGeom>
          <a:noFill/>
        </p:spPr>
        <p:txBody>
          <a:bodyPr wrap="square" rtlCol="0">
            <a:spAutoFit/>
          </a:bodyPr>
          <a:lstStyle/>
          <a:p>
            <a:r>
              <a:rPr lang="en-US" sz="800" dirty="0">
                <a:latin typeface="Foot Locker" panose="02000503000000020003" pitchFamily="50" charset="0"/>
              </a:rPr>
              <a:t>Useful Resources:</a:t>
            </a:r>
          </a:p>
          <a:p>
            <a:r>
              <a:rPr lang="en-US" sz="800" dirty="0">
                <a:latin typeface="Foot Locker" panose="02000503000000020003" pitchFamily="50" charset="0"/>
                <a:hlinkClick r:id="rId4"/>
              </a:rPr>
              <a:t>SAP Continuous Performance Management</a:t>
            </a:r>
            <a:endParaRPr lang="en-US" sz="800" dirty="0">
              <a:latin typeface="Foot Locker" panose="02000503000000020003" pitchFamily="50" charset="0"/>
            </a:endParaRPr>
          </a:p>
        </p:txBody>
      </p:sp>
      <p:sp>
        <p:nvSpPr>
          <p:cNvPr id="12" name="TextBox 11">
            <a:extLst>
              <a:ext uri="{FF2B5EF4-FFF2-40B4-BE49-F238E27FC236}">
                <a16:creationId xmlns:a16="http://schemas.microsoft.com/office/drawing/2014/main" id="{A61CF7D2-9832-3394-6D09-6FD50D0FFED5}"/>
              </a:ext>
            </a:extLst>
          </p:cNvPr>
          <p:cNvSpPr txBox="1"/>
          <p:nvPr/>
        </p:nvSpPr>
        <p:spPr>
          <a:xfrm>
            <a:off x="7620" y="1749268"/>
            <a:ext cx="3421380" cy="6093976"/>
          </a:xfrm>
          <a:prstGeom prst="rect">
            <a:avLst/>
          </a:prstGeom>
          <a:noFill/>
        </p:spPr>
        <p:txBody>
          <a:bodyPr wrap="square" rtlCol="0">
            <a:spAutoFit/>
          </a:bodyPr>
          <a:lstStyle/>
          <a:p>
            <a:r>
              <a:rPr lang="en-US" sz="1000" u="sng" dirty="0">
                <a:latin typeface="Foot Locker" panose="02000503000000020003" pitchFamily="50" charset="0"/>
              </a:rPr>
              <a:t>Continuous Performance Management Configuration: </a:t>
            </a:r>
          </a:p>
          <a:p>
            <a:pPr marL="171450" indent="-171450">
              <a:buFont typeface="Arial" panose="020B0604020202020204" pitchFamily="34" charset="0"/>
              <a:buChar char="•"/>
            </a:pPr>
            <a:r>
              <a:rPr lang="en-US" sz="1000" dirty="0">
                <a:latin typeface="Foot Locker" panose="02000503000000020003" pitchFamily="50" charset="0"/>
              </a:rPr>
              <a:t>Use this feature in SuccessFactors to configure the CPM tool and Continuous Feedback tool</a:t>
            </a:r>
          </a:p>
          <a:p>
            <a:endParaRPr lang="en-US" sz="1000" dirty="0">
              <a:latin typeface="Foot Locker" panose="02000503000000020003" pitchFamily="50" charset="0"/>
            </a:endParaRPr>
          </a:p>
          <a:p>
            <a:r>
              <a:rPr lang="en-US" sz="1000" u="sng" dirty="0">
                <a:latin typeface="Foot Locker" panose="02000503000000020003" pitchFamily="50" charset="0"/>
              </a:rPr>
              <a:t>General Configuration: Validate</a:t>
            </a:r>
          </a:p>
          <a:p>
            <a:pPr marL="171450" indent="-171450">
              <a:buFont typeface="Arial" panose="020B0604020202020204" pitchFamily="34" charset="0"/>
              <a:buChar char="•"/>
            </a:pPr>
            <a:r>
              <a:rPr lang="en-US" sz="1000" dirty="0">
                <a:latin typeface="Foot Locker" panose="02000503000000020003" pitchFamily="50" charset="0"/>
              </a:rPr>
              <a:t>Use the validate button to ensure the tool is running properly. For any errors that you receive, it is best to partner with Rizing to review and correct the errors. Prior to launching CPM, we should have no errors upon validation, so after launch, if configuration changes need to be made, always validate the configuration again.</a:t>
            </a:r>
          </a:p>
          <a:p>
            <a:pPr marL="171450" indent="-171450">
              <a:buFont typeface="Arial" panose="020B0604020202020204" pitchFamily="34" charset="0"/>
              <a:buChar char="•"/>
            </a:pPr>
            <a:endParaRPr lang="en-US" sz="1000" dirty="0">
              <a:latin typeface="Foot Locker" panose="02000503000000020003" pitchFamily="50" charset="0"/>
            </a:endParaRPr>
          </a:p>
          <a:p>
            <a:r>
              <a:rPr lang="en-US" sz="1000" u="sng" dirty="0">
                <a:latin typeface="Foot Locker" panose="02000503000000020003" pitchFamily="50" charset="0"/>
              </a:rPr>
              <a:t>Default View:</a:t>
            </a:r>
          </a:p>
          <a:p>
            <a:pPr marL="171450" indent="-171450">
              <a:buFont typeface="Arial" panose="020B0604020202020204" pitchFamily="34" charset="0"/>
              <a:buChar char="•"/>
            </a:pPr>
            <a:r>
              <a:rPr lang="en-US" sz="1000" dirty="0">
                <a:latin typeface="Foot Locker" panose="02000503000000020003" pitchFamily="50" charset="0"/>
              </a:rPr>
              <a:t>Change the default view on the CPM landing page from either the Activities View or the Achievements View</a:t>
            </a:r>
          </a:p>
          <a:p>
            <a:pPr marL="171450" indent="-171450">
              <a:buFont typeface="Arial" panose="020B0604020202020204" pitchFamily="34" charset="0"/>
              <a:buChar char="•"/>
            </a:pPr>
            <a:endParaRPr lang="en-US" sz="1000" dirty="0">
              <a:latin typeface="Foot Locker" panose="02000503000000020003" pitchFamily="50" charset="0"/>
            </a:endParaRPr>
          </a:p>
          <a:p>
            <a:endParaRPr lang="en-US" sz="1000" dirty="0">
              <a:latin typeface="Foot Locker" panose="02000503000000020003" pitchFamily="50" charset="0"/>
            </a:endParaRPr>
          </a:p>
          <a:p>
            <a:r>
              <a:rPr lang="en-US" sz="1000" u="sng" dirty="0">
                <a:latin typeface="Foot Locker" panose="02000503000000020003" pitchFamily="50" charset="0"/>
              </a:rPr>
              <a:t>Activity Status Label:</a:t>
            </a:r>
          </a:p>
          <a:p>
            <a:pPr marL="171450" indent="-171450">
              <a:buFont typeface="Arial" panose="020B0604020202020204" pitchFamily="34" charset="0"/>
              <a:buChar char="•"/>
            </a:pPr>
            <a:r>
              <a:rPr lang="en-US" sz="1000" b="0" i="0" dirty="0">
                <a:solidFill>
                  <a:srgbClr val="333333"/>
                </a:solidFill>
                <a:effectLst/>
                <a:latin typeface="Foot Locker" panose="02000503000000020003" pitchFamily="50" charset="0"/>
              </a:rPr>
              <a:t>Define the label names, status colors, and whether to prompt actions or clear the status for activities.</a:t>
            </a:r>
          </a:p>
          <a:p>
            <a:pPr marL="171450" indent="-171450">
              <a:buFont typeface="Arial" panose="020B0604020202020204" pitchFamily="34" charset="0"/>
              <a:buChar char="•"/>
            </a:pPr>
            <a:r>
              <a:rPr lang="en-US" sz="1000" dirty="0">
                <a:solidFill>
                  <a:srgbClr val="333333"/>
                </a:solidFill>
                <a:latin typeface="Foot Locker" panose="02000503000000020003" pitchFamily="50" charset="0"/>
              </a:rPr>
              <a:t>Changing labels mid-process will affect current CPM capabilities, so it is best to only update, create, and finalize labels prior to the launch of CPM. </a:t>
            </a:r>
          </a:p>
          <a:p>
            <a:pPr marL="171450" indent="-171450">
              <a:buFont typeface="Arial" panose="020B0604020202020204" pitchFamily="34" charset="0"/>
              <a:buChar char="•"/>
            </a:pPr>
            <a:endParaRPr lang="en-US" sz="1000" b="0" i="0" dirty="0">
              <a:solidFill>
                <a:srgbClr val="333333"/>
              </a:solidFill>
              <a:effectLst/>
              <a:latin typeface="Foot Locker" panose="02000503000000020003" pitchFamily="50" charset="0"/>
            </a:endParaRPr>
          </a:p>
          <a:p>
            <a:pPr marL="171450" indent="-171450">
              <a:buFont typeface="Arial" panose="020B0604020202020204" pitchFamily="34" charset="0"/>
              <a:buChar char="•"/>
            </a:pPr>
            <a:endParaRPr lang="en-US" sz="1000" dirty="0">
              <a:solidFill>
                <a:srgbClr val="333333"/>
              </a:solidFill>
              <a:latin typeface="Foot Locker" panose="02000503000000020003" pitchFamily="50" charset="0"/>
            </a:endParaRPr>
          </a:p>
          <a:p>
            <a:pPr marL="171450" indent="-171450">
              <a:buFont typeface="Arial" panose="020B0604020202020204" pitchFamily="34" charset="0"/>
              <a:buChar char="•"/>
            </a:pPr>
            <a:endParaRPr lang="en-US" sz="1000" b="0" i="0" dirty="0">
              <a:solidFill>
                <a:srgbClr val="333333"/>
              </a:solidFill>
              <a:effectLst/>
              <a:latin typeface="Foot Locker" panose="02000503000000020003" pitchFamily="50" charset="0"/>
            </a:endParaRPr>
          </a:p>
          <a:p>
            <a:pPr marL="171450" indent="-171450">
              <a:buFont typeface="Arial" panose="020B0604020202020204" pitchFamily="34" charset="0"/>
              <a:buChar char="•"/>
            </a:pPr>
            <a:endParaRPr lang="en-US" sz="1000" dirty="0">
              <a:solidFill>
                <a:srgbClr val="333333"/>
              </a:solidFill>
              <a:latin typeface="Foot Locker" panose="02000503000000020003" pitchFamily="50" charset="0"/>
            </a:endParaRPr>
          </a:p>
          <a:p>
            <a:r>
              <a:rPr lang="en-US" sz="1000" b="0" i="0" u="sng" dirty="0">
                <a:solidFill>
                  <a:srgbClr val="333333"/>
                </a:solidFill>
                <a:effectLst/>
                <a:latin typeface="Foot Locker" panose="02000503000000020003" pitchFamily="50" charset="0"/>
              </a:rPr>
              <a:t>Feature Conf</a:t>
            </a:r>
            <a:r>
              <a:rPr lang="en-US" sz="1000" u="sng" dirty="0">
                <a:solidFill>
                  <a:srgbClr val="333333"/>
                </a:solidFill>
                <a:latin typeface="Foot Locker" panose="02000503000000020003" pitchFamily="50" charset="0"/>
              </a:rPr>
              <a:t>iguration:</a:t>
            </a:r>
          </a:p>
          <a:p>
            <a:pPr marL="171450" indent="-171450">
              <a:buFont typeface="Arial" panose="020B0604020202020204" pitchFamily="34" charset="0"/>
              <a:buChar char="•"/>
            </a:pPr>
            <a:r>
              <a:rPr lang="en-US" sz="1000" b="0" i="0" dirty="0">
                <a:solidFill>
                  <a:srgbClr val="333333"/>
                </a:solidFill>
                <a:effectLst/>
                <a:latin typeface="Foot Locker" panose="02000503000000020003" pitchFamily="50" charset="0"/>
              </a:rPr>
              <a:t>Enable unique features to customize the CPM tool further – you can review what each feature does by clicking on the question mark.</a:t>
            </a:r>
          </a:p>
          <a:p>
            <a:pPr marL="171450" indent="-171450">
              <a:buFont typeface="Arial" panose="020B0604020202020204" pitchFamily="34" charset="0"/>
              <a:buChar char="•"/>
            </a:pPr>
            <a:r>
              <a:rPr lang="en-US" sz="1000" dirty="0">
                <a:solidFill>
                  <a:srgbClr val="333333"/>
                </a:solidFill>
                <a:latin typeface="Foot Locker" panose="02000503000000020003" pitchFamily="50" charset="0"/>
              </a:rPr>
              <a:t>In the event you need to refresh the ODATA after enabling or disabling a feature, go to “ODATA API Metadata Refresh and Export” and Refresh the Cache. </a:t>
            </a:r>
          </a:p>
          <a:p>
            <a:pPr marL="628650" lvl="1" indent="-171450">
              <a:buFont typeface="Arial" panose="020B0604020202020204" pitchFamily="34" charset="0"/>
              <a:buChar char="•"/>
            </a:pPr>
            <a:r>
              <a:rPr lang="en-US" sz="1000" b="0" i="0" dirty="0">
                <a:solidFill>
                  <a:srgbClr val="333333"/>
                </a:solidFill>
                <a:effectLst/>
                <a:latin typeface="Foot Locker" panose="02000503000000020003" pitchFamily="50" charset="0"/>
              </a:rPr>
              <a:t>Go back to the CPM Configuration menu and validate the configuration to ensure there are no error</a:t>
            </a:r>
            <a:r>
              <a:rPr lang="en-US" sz="1000" dirty="0">
                <a:solidFill>
                  <a:srgbClr val="333333"/>
                </a:solidFill>
                <a:latin typeface="Foot Locker" panose="02000503000000020003" pitchFamily="50" charset="0"/>
              </a:rPr>
              <a:t>s. </a:t>
            </a:r>
            <a:endParaRPr lang="en-US" sz="1000" b="0" i="0" dirty="0">
              <a:solidFill>
                <a:srgbClr val="333333"/>
              </a:solidFill>
              <a:effectLst/>
              <a:latin typeface="Foot Locker" panose="02000503000000020003" pitchFamily="50" charset="0"/>
            </a:endParaRPr>
          </a:p>
          <a:p>
            <a:pPr marL="171450" indent="-171450">
              <a:buFont typeface="Arial" panose="020B0604020202020204" pitchFamily="34" charset="0"/>
              <a:buChar char="•"/>
            </a:pPr>
            <a:endParaRPr lang="en-US" sz="1000" dirty="0">
              <a:latin typeface="Foot Locker" panose="02000503000000020003" pitchFamily="50" charset="0"/>
            </a:endParaRPr>
          </a:p>
        </p:txBody>
      </p:sp>
      <p:pic>
        <p:nvPicPr>
          <p:cNvPr id="14" name="Picture 13">
            <a:extLst>
              <a:ext uri="{FF2B5EF4-FFF2-40B4-BE49-F238E27FC236}">
                <a16:creationId xmlns:a16="http://schemas.microsoft.com/office/drawing/2014/main" id="{5BC076DE-15B2-FCC2-F870-E866821ED293}"/>
              </a:ext>
            </a:extLst>
          </p:cNvPr>
          <p:cNvPicPr>
            <a:picLocks noChangeAspect="1"/>
          </p:cNvPicPr>
          <p:nvPr/>
        </p:nvPicPr>
        <p:blipFill>
          <a:blip r:embed="rId5"/>
          <a:stretch>
            <a:fillRect/>
          </a:stretch>
        </p:blipFill>
        <p:spPr>
          <a:xfrm>
            <a:off x="3429000" y="1562100"/>
            <a:ext cx="2824835" cy="1762283"/>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B65BC27A-4E11-83DA-6F22-9BB4FDF49A6F}"/>
              </a:ext>
            </a:extLst>
          </p:cNvPr>
          <p:cNvPicPr>
            <a:picLocks noChangeAspect="1"/>
          </p:cNvPicPr>
          <p:nvPr/>
        </p:nvPicPr>
        <p:blipFill>
          <a:blip r:embed="rId6"/>
          <a:stretch>
            <a:fillRect/>
          </a:stretch>
        </p:blipFill>
        <p:spPr>
          <a:xfrm>
            <a:off x="3429000" y="3488897"/>
            <a:ext cx="1150620" cy="628489"/>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93CFF27B-2FB8-72A1-B049-FF29F100C6A1}"/>
              </a:ext>
            </a:extLst>
          </p:cNvPr>
          <p:cNvPicPr>
            <a:picLocks noChangeAspect="1"/>
          </p:cNvPicPr>
          <p:nvPr/>
        </p:nvPicPr>
        <p:blipFill>
          <a:blip r:embed="rId7"/>
          <a:stretch>
            <a:fillRect/>
          </a:stretch>
        </p:blipFill>
        <p:spPr>
          <a:xfrm>
            <a:off x="3429000" y="4345840"/>
            <a:ext cx="3328138" cy="1223222"/>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1E364362-02E0-2413-4D63-B1CE51ECA136}"/>
              </a:ext>
            </a:extLst>
          </p:cNvPr>
          <p:cNvPicPr>
            <a:picLocks noChangeAspect="1"/>
          </p:cNvPicPr>
          <p:nvPr/>
        </p:nvPicPr>
        <p:blipFill>
          <a:blip r:embed="rId8"/>
          <a:stretch>
            <a:fillRect/>
          </a:stretch>
        </p:blipFill>
        <p:spPr>
          <a:xfrm>
            <a:off x="3429000" y="5797516"/>
            <a:ext cx="3204265" cy="2308608"/>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BC33441A-7D3D-56F9-0FDA-1ECE1D03D12C}"/>
              </a:ext>
            </a:extLst>
          </p:cNvPr>
          <p:cNvPicPr>
            <a:picLocks noChangeAspect="1"/>
          </p:cNvPicPr>
          <p:nvPr/>
        </p:nvPicPr>
        <p:blipFill>
          <a:blip r:embed="rId9"/>
          <a:stretch>
            <a:fillRect/>
          </a:stretch>
        </p:blipFill>
        <p:spPr>
          <a:xfrm>
            <a:off x="2004651" y="7410163"/>
            <a:ext cx="1235419" cy="866161"/>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3C240000-53E3-3A6B-017A-C5A7A8030C9C}"/>
              </a:ext>
            </a:extLst>
          </p:cNvPr>
          <p:cNvPicPr>
            <a:picLocks noChangeAspect="1"/>
          </p:cNvPicPr>
          <p:nvPr/>
        </p:nvPicPr>
        <p:blipFill>
          <a:blip r:embed="rId3"/>
          <a:stretch>
            <a:fillRect/>
          </a:stretch>
        </p:blipFill>
        <p:spPr>
          <a:xfrm>
            <a:off x="0" y="8465674"/>
            <a:ext cx="6858000" cy="129540"/>
          </a:xfrm>
          <a:prstGeom prst="rect">
            <a:avLst/>
          </a:prstGeom>
        </p:spPr>
      </p:pic>
      <p:sp>
        <p:nvSpPr>
          <p:cNvPr id="15" name="TextBox 14">
            <a:extLst>
              <a:ext uri="{FF2B5EF4-FFF2-40B4-BE49-F238E27FC236}">
                <a16:creationId xmlns:a16="http://schemas.microsoft.com/office/drawing/2014/main" id="{66BFE02A-134B-13C8-7703-F058E6DAD1FB}"/>
              </a:ext>
            </a:extLst>
          </p:cNvPr>
          <p:cNvSpPr txBox="1"/>
          <p:nvPr/>
        </p:nvSpPr>
        <p:spPr>
          <a:xfrm>
            <a:off x="7620" y="8595214"/>
            <a:ext cx="2537460" cy="1938992"/>
          </a:xfrm>
          <a:prstGeom prst="rect">
            <a:avLst/>
          </a:prstGeom>
          <a:noFill/>
        </p:spPr>
        <p:txBody>
          <a:bodyPr wrap="square" rtlCol="0">
            <a:spAutoFit/>
          </a:bodyPr>
          <a:lstStyle/>
          <a:p>
            <a:r>
              <a:rPr lang="en-US" sz="1000" u="sng" dirty="0">
                <a:latin typeface="Foot Locker" panose="02000503000000020003" pitchFamily="50" charset="0"/>
              </a:rPr>
              <a:t>Manage Home Page &gt; General &gt; Quick Actions:</a:t>
            </a:r>
          </a:p>
          <a:p>
            <a:pPr marL="171450" indent="-171450">
              <a:buFont typeface="Arial" panose="020B0604020202020204" pitchFamily="34" charset="0"/>
              <a:buChar char="•"/>
            </a:pPr>
            <a:r>
              <a:rPr lang="en-US" sz="1000" dirty="0">
                <a:latin typeface="Foot Locker" panose="02000503000000020003" pitchFamily="50" charset="0"/>
              </a:rPr>
              <a:t>Use this feature to enable the Quick Action Icons for the following tiles:</a:t>
            </a:r>
          </a:p>
          <a:p>
            <a:pPr marL="628650" lvl="1" indent="-171450">
              <a:buFont typeface="Arial" panose="020B0604020202020204" pitchFamily="34" charset="0"/>
              <a:buChar char="•"/>
            </a:pPr>
            <a:r>
              <a:rPr lang="en-US" sz="1000" dirty="0">
                <a:latin typeface="Foot Locker" panose="02000503000000020003" pitchFamily="50" charset="0"/>
              </a:rPr>
              <a:t>Request Feedback</a:t>
            </a:r>
          </a:p>
          <a:p>
            <a:pPr marL="628650" lvl="1" indent="-171450">
              <a:buFont typeface="Arial" panose="020B0604020202020204" pitchFamily="34" charset="0"/>
              <a:buChar char="•"/>
            </a:pPr>
            <a:r>
              <a:rPr lang="en-US" sz="1000" dirty="0">
                <a:latin typeface="Foot Locker" panose="02000503000000020003" pitchFamily="50" charset="0"/>
              </a:rPr>
              <a:t>Give Feedback</a:t>
            </a:r>
          </a:p>
          <a:p>
            <a:pPr marL="628650" lvl="1" indent="-171450">
              <a:buFont typeface="Arial" panose="020B0604020202020204" pitchFamily="34" charset="0"/>
              <a:buChar char="•"/>
            </a:pPr>
            <a:r>
              <a:rPr lang="en-US" sz="1000" dirty="0">
                <a:latin typeface="Foot Locker" panose="02000503000000020003" pitchFamily="50" charset="0"/>
              </a:rPr>
              <a:t>Create Activity </a:t>
            </a:r>
          </a:p>
          <a:p>
            <a:pPr marL="171450" indent="-171450">
              <a:buFont typeface="Arial" panose="020B0604020202020204" pitchFamily="34" charset="0"/>
              <a:buChar char="•"/>
            </a:pPr>
            <a:r>
              <a:rPr lang="en-US" sz="1000" dirty="0">
                <a:latin typeface="Foot Locker" panose="02000503000000020003" pitchFamily="50" charset="0"/>
              </a:rPr>
              <a:t>Enabling these quick action icons allows the user to quickly access feedback or create an activity for one of their performance/development goals</a:t>
            </a:r>
          </a:p>
          <a:p>
            <a:pPr marL="171450" indent="-171450">
              <a:buFont typeface="Arial" panose="020B0604020202020204" pitchFamily="34" charset="0"/>
              <a:buChar char="•"/>
            </a:pPr>
            <a:endParaRPr lang="en-US" sz="1000" dirty="0">
              <a:latin typeface="Foot Locker" panose="02000503000000020003" pitchFamily="50" charset="0"/>
            </a:endParaRPr>
          </a:p>
        </p:txBody>
      </p:sp>
      <p:pic>
        <p:nvPicPr>
          <p:cNvPr id="19" name="Picture 18">
            <a:extLst>
              <a:ext uri="{FF2B5EF4-FFF2-40B4-BE49-F238E27FC236}">
                <a16:creationId xmlns:a16="http://schemas.microsoft.com/office/drawing/2014/main" id="{DCAD099D-B2D2-6771-3412-692A2D00290A}"/>
              </a:ext>
            </a:extLst>
          </p:cNvPr>
          <p:cNvPicPr>
            <a:picLocks noChangeAspect="1"/>
          </p:cNvPicPr>
          <p:nvPr/>
        </p:nvPicPr>
        <p:blipFill>
          <a:blip r:embed="rId10"/>
          <a:stretch>
            <a:fillRect/>
          </a:stretch>
        </p:blipFill>
        <p:spPr>
          <a:xfrm>
            <a:off x="2622360" y="8772317"/>
            <a:ext cx="4134778" cy="542266"/>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EAE3629D-423C-8C92-D65E-36BD06B9829B}"/>
              </a:ext>
            </a:extLst>
          </p:cNvPr>
          <p:cNvPicPr>
            <a:picLocks noChangeAspect="1"/>
          </p:cNvPicPr>
          <p:nvPr/>
        </p:nvPicPr>
        <p:blipFill>
          <a:blip r:embed="rId3"/>
          <a:stretch>
            <a:fillRect/>
          </a:stretch>
        </p:blipFill>
        <p:spPr>
          <a:xfrm>
            <a:off x="0" y="10598976"/>
            <a:ext cx="6858000" cy="129540"/>
          </a:xfrm>
          <a:prstGeom prst="rect">
            <a:avLst/>
          </a:prstGeom>
        </p:spPr>
      </p:pic>
      <p:pic>
        <p:nvPicPr>
          <p:cNvPr id="22" name="Picture 21">
            <a:extLst>
              <a:ext uri="{FF2B5EF4-FFF2-40B4-BE49-F238E27FC236}">
                <a16:creationId xmlns:a16="http://schemas.microsoft.com/office/drawing/2014/main" id="{34D97BBC-E313-5473-2C8F-229183D98643}"/>
              </a:ext>
            </a:extLst>
          </p:cNvPr>
          <p:cNvPicPr>
            <a:picLocks noChangeAspect="1"/>
          </p:cNvPicPr>
          <p:nvPr/>
        </p:nvPicPr>
        <p:blipFill>
          <a:blip r:embed="rId11"/>
          <a:stretch>
            <a:fillRect/>
          </a:stretch>
        </p:blipFill>
        <p:spPr>
          <a:xfrm>
            <a:off x="2622360" y="9579846"/>
            <a:ext cx="4083240" cy="7878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55396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38804-0B45-48C3-32EB-EBCF814766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42EFE1-8C2B-CA3C-FF73-244A78774D43}"/>
              </a:ext>
            </a:extLst>
          </p:cNvPr>
          <p:cNvPicPr>
            <a:picLocks noChangeAspect="1"/>
          </p:cNvPicPr>
          <p:nvPr/>
        </p:nvPicPr>
        <p:blipFill>
          <a:blip r:embed="rId2"/>
          <a:stretch>
            <a:fillRect/>
          </a:stretch>
        </p:blipFill>
        <p:spPr>
          <a:xfrm>
            <a:off x="0" y="0"/>
            <a:ext cx="6858000" cy="716280"/>
          </a:xfrm>
          <a:prstGeom prst="rect">
            <a:avLst/>
          </a:prstGeom>
        </p:spPr>
      </p:pic>
      <p:pic>
        <p:nvPicPr>
          <p:cNvPr id="7" name="Picture 6">
            <a:extLst>
              <a:ext uri="{FF2B5EF4-FFF2-40B4-BE49-F238E27FC236}">
                <a16:creationId xmlns:a16="http://schemas.microsoft.com/office/drawing/2014/main" id="{2670EFAB-D2A6-F9BF-A49E-2B6FAEB729A8}"/>
              </a:ext>
            </a:extLst>
          </p:cNvPr>
          <p:cNvPicPr>
            <a:picLocks noChangeAspect="1"/>
          </p:cNvPicPr>
          <p:nvPr/>
        </p:nvPicPr>
        <p:blipFill>
          <a:blip r:embed="rId3"/>
          <a:stretch>
            <a:fillRect/>
          </a:stretch>
        </p:blipFill>
        <p:spPr>
          <a:xfrm>
            <a:off x="0" y="716280"/>
            <a:ext cx="6858000" cy="129540"/>
          </a:xfrm>
          <a:prstGeom prst="rect">
            <a:avLst/>
          </a:prstGeom>
        </p:spPr>
      </p:pic>
      <p:sp>
        <p:nvSpPr>
          <p:cNvPr id="8" name="TextBox 7">
            <a:extLst>
              <a:ext uri="{FF2B5EF4-FFF2-40B4-BE49-F238E27FC236}">
                <a16:creationId xmlns:a16="http://schemas.microsoft.com/office/drawing/2014/main" id="{5D44FDAF-41A7-F8DF-F150-9ADDA0AE6DCD}"/>
              </a:ext>
            </a:extLst>
          </p:cNvPr>
          <p:cNvSpPr txBox="1"/>
          <p:nvPr/>
        </p:nvSpPr>
        <p:spPr>
          <a:xfrm>
            <a:off x="0" y="34975"/>
            <a:ext cx="5478780" cy="646331"/>
          </a:xfrm>
          <a:prstGeom prst="rect">
            <a:avLst/>
          </a:prstGeom>
          <a:noFill/>
        </p:spPr>
        <p:txBody>
          <a:bodyPr wrap="square" rtlCol="0">
            <a:spAutoFit/>
          </a:bodyPr>
          <a:lstStyle/>
          <a:p>
            <a:r>
              <a:rPr lang="en-US" dirty="0">
                <a:solidFill>
                  <a:schemeClr val="bg1"/>
                </a:solidFill>
                <a:latin typeface="FootLocker FL Classic" panose="00000800000000000000" pitchFamily="50" charset="0"/>
              </a:rPr>
              <a:t>SuccessFactors: Continuous Performance Management Guide (Continued)</a:t>
            </a:r>
          </a:p>
        </p:txBody>
      </p:sp>
      <p:sp>
        <p:nvSpPr>
          <p:cNvPr id="9" name="TextBox 8">
            <a:extLst>
              <a:ext uri="{FF2B5EF4-FFF2-40B4-BE49-F238E27FC236}">
                <a16:creationId xmlns:a16="http://schemas.microsoft.com/office/drawing/2014/main" id="{3A3D6FAC-0ED2-AF99-6B7D-DB6B6FDE9A88}"/>
              </a:ext>
            </a:extLst>
          </p:cNvPr>
          <p:cNvSpPr txBox="1"/>
          <p:nvPr/>
        </p:nvSpPr>
        <p:spPr>
          <a:xfrm>
            <a:off x="0" y="880794"/>
            <a:ext cx="6858000" cy="400110"/>
          </a:xfrm>
          <a:prstGeom prst="rect">
            <a:avLst/>
          </a:prstGeom>
          <a:noFill/>
        </p:spPr>
        <p:txBody>
          <a:bodyPr wrap="square" rtlCol="0">
            <a:spAutoFit/>
          </a:bodyPr>
          <a:lstStyle/>
          <a:p>
            <a:r>
              <a:rPr lang="en-US" sz="1000" dirty="0">
                <a:latin typeface="Foot Locker" panose="02000503000000020003" pitchFamily="50" charset="0"/>
              </a:rPr>
              <a:t>This guide seeks to aid in the administration and configuration of the Continuous Performance Management tool and the Continuous Feedback tool.</a:t>
            </a:r>
          </a:p>
        </p:txBody>
      </p:sp>
      <p:pic>
        <p:nvPicPr>
          <p:cNvPr id="10" name="Picture 9">
            <a:extLst>
              <a:ext uri="{FF2B5EF4-FFF2-40B4-BE49-F238E27FC236}">
                <a16:creationId xmlns:a16="http://schemas.microsoft.com/office/drawing/2014/main" id="{7C498526-B042-B820-2B63-F1ACA76273FC}"/>
              </a:ext>
            </a:extLst>
          </p:cNvPr>
          <p:cNvPicPr>
            <a:picLocks noChangeAspect="1"/>
          </p:cNvPicPr>
          <p:nvPr/>
        </p:nvPicPr>
        <p:blipFill>
          <a:blip r:embed="rId3"/>
          <a:stretch>
            <a:fillRect/>
          </a:stretch>
        </p:blipFill>
        <p:spPr>
          <a:xfrm>
            <a:off x="0" y="1254918"/>
            <a:ext cx="6858000" cy="129540"/>
          </a:xfrm>
          <a:prstGeom prst="rect">
            <a:avLst/>
          </a:prstGeom>
        </p:spPr>
      </p:pic>
      <p:sp>
        <p:nvSpPr>
          <p:cNvPr id="11" name="TextBox 10">
            <a:extLst>
              <a:ext uri="{FF2B5EF4-FFF2-40B4-BE49-F238E27FC236}">
                <a16:creationId xmlns:a16="http://schemas.microsoft.com/office/drawing/2014/main" id="{072ADA79-89FF-5F1E-605D-2984E5297743}"/>
              </a:ext>
            </a:extLst>
          </p:cNvPr>
          <p:cNvSpPr txBox="1"/>
          <p:nvPr/>
        </p:nvSpPr>
        <p:spPr>
          <a:xfrm>
            <a:off x="0" y="1397586"/>
            <a:ext cx="6705600" cy="338554"/>
          </a:xfrm>
          <a:prstGeom prst="rect">
            <a:avLst/>
          </a:prstGeom>
          <a:noFill/>
        </p:spPr>
        <p:txBody>
          <a:bodyPr wrap="square" rtlCol="0">
            <a:spAutoFit/>
          </a:bodyPr>
          <a:lstStyle/>
          <a:p>
            <a:r>
              <a:rPr lang="en-US" sz="800" dirty="0">
                <a:latin typeface="Foot Locker" panose="02000503000000020003" pitchFamily="50" charset="0"/>
              </a:rPr>
              <a:t>Useful Resources:</a:t>
            </a:r>
          </a:p>
          <a:p>
            <a:r>
              <a:rPr lang="en-US" sz="800" dirty="0">
                <a:latin typeface="Foot Locker" panose="02000503000000020003" pitchFamily="50" charset="0"/>
                <a:hlinkClick r:id="rId4"/>
              </a:rPr>
              <a:t>SAP Continuous Performance Management</a:t>
            </a:r>
            <a:endParaRPr lang="en-US" sz="800" dirty="0">
              <a:latin typeface="Foot Locker" panose="02000503000000020003" pitchFamily="50" charset="0"/>
            </a:endParaRPr>
          </a:p>
        </p:txBody>
      </p:sp>
      <p:sp>
        <p:nvSpPr>
          <p:cNvPr id="12" name="TextBox 11">
            <a:extLst>
              <a:ext uri="{FF2B5EF4-FFF2-40B4-BE49-F238E27FC236}">
                <a16:creationId xmlns:a16="http://schemas.microsoft.com/office/drawing/2014/main" id="{78AF5775-6F61-A8D9-1BA0-E577D6899C6D}"/>
              </a:ext>
            </a:extLst>
          </p:cNvPr>
          <p:cNvSpPr txBox="1"/>
          <p:nvPr/>
        </p:nvSpPr>
        <p:spPr>
          <a:xfrm>
            <a:off x="7620" y="1749268"/>
            <a:ext cx="4442460" cy="10402848"/>
          </a:xfrm>
          <a:prstGeom prst="rect">
            <a:avLst/>
          </a:prstGeom>
          <a:noFill/>
        </p:spPr>
        <p:txBody>
          <a:bodyPr wrap="square" rtlCol="0">
            <a:spAutoFit/>
          </a:bodyPr>
          <a:lstStyle/>
          <a:p>
            <a:r>
              <a:rPr lang="en-US" sz="1000" u="sng" dirty="0">
                <a:latin typeface="Foot Locker" panose="02000503000000020003" pitchFamily="50" charset="0"/>
              </a:rPr>
              <a:t>RBP/User Group Access to CPM: </a:t>
            </a:r>
          </a:p>
          <a:p>
            <a:pPr marL="171450" indent="-171450">
              <a:buFont typeface="Arial" panose="020B0604020202020204" pitchFamily="34" charset="0"/>
              <a:buChar char="•"/>
            </a:pPr>
            <a:r>
              <a:rPr lang="en-US" sz="1000" dirty="0">
                <a:latin typeface="Foot Locker" panose="02000503000000020003" pitchFamily="50" charset="0"/>
              </a:rPr>
              <a:t>FL Global Administrator:</a:t>
            </a:r>
          </a:p>
          <a:p>
            <a:pPr marL="628650" lvl="1" indent="-171450">
              <a:buFont typeface="Arial" panose="020B0604020202020204" pitchFamily="34" charset="0"/>
              <a:buChar char="•"/>
            </a:pPr>
            <a:r>
              <a:rPr lang="en-US" sz="1000" dirty="0">
                <a:latin typeface="Foot Locker" panose="02000503000000020003" pitchFamily="50" charset="0"/>
              </a:rPr>
              <a:t>Continuous Performance User Permission:</a:t>
            </a:r>
          </a:p>
          <a:p>
            <a:pPr marL="1085850" lvl="2" indent="-171450">
              <a:buFont typeface="Arial" panose="020B0604020202020204" pitchFamily="34" charset="0"/>
              <a:buChar char="•"/>
            </a:pPr>
            <a:r>
              <a:rPr lang="en-US" sz="1000" dirty="0">
                <a:latin typeface="Foot Locker" panose="02000503000000020003" pitchFamily="50" charset="0"/>
              </a:rPr>
              <a:t>Access to 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Access Continuous Feedback</a:t>
            </a:r>
          </a:p>
          <a:p>
            <a:pPr marL="1085850" lvl="2" indent="-171450">
              <a:buFont typeface="Arial" panose="020B0604020202020204" pitchFamily="34" charset="0"/>
              <a:buChar char="•"/>
            </a:pPr>
            <a:r>
              <a:rPr lang="en-US" sz="1000" dirty="0">
                <a:latin typeface="Foot Locker" panose="02000503000000020003" pitchFamily="50" charset="0"/>
              </a:rPr>
              <a:t>Give Continuous Feedback</a:t>
            </a:r>
          </a:p>
          <a:p>
            <a:pPr marL="1085850" lvl="2" indent="-171450">
              <a:buFont typeface="Arial" panose="020B0604020202020204" pitchFamily="34" charset="0"/>
              <a:buChar char="•"/>
            </a:pPr>
            <a:r>
              <a:rPr lang="en-US" sz="1000" dirty="0">
                <a:latin typeface="Foot Locker" panose="02000503000000020003" pitchFamily="50" charset="0"/>
              </a:rPr>
              <a:t>Request Feedback from others</a:t>
            </a:r>
          </a:p>
          <a:p>
            <a:pPr marL="628650" lvl="1" indent="-171450">
              <a:buFont typeface="Arial" panose="020B0604020202020204" pitchFamily="34" charset="0"/>
              <a:buChar char="•"/>
            </a:pPr>
            <a:r>
              <a:rPr lang="en-US" sz="1000" dirty="0">
                <a:latin typeface="Foot Locker" panose="02000503000000020003" pitchFamily="50" charset="0"/>
              </a:rPr>
              <a:t>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Achievement – all values </a:t>
            </a:r>
          </a:p>
          <a:p>
            <a:pPr marL="1085850" lvl="2" indent="-171450">
              <a:buFont typeface="Arial" panose="020B0604020202020204" pitchFamily="34" charset="0"/>
              <a:buChar char="•"/>
            </a:pPr>
            <a:r>
              <a:rPr lang="en-US" sz="1000" dirty="0">
                <a:latin typeface="Foot Locker" panose="02000503000000020003" pitchFamily="50" charset="0"/>
              </a:rPr>
              <a:t>Activity – all values</a:t>
            </a:r>
          </a:p>
          <a:p>
            <a:pPr marL="1085850" lvl="2" indent="-171450">
              <a:buFont typeface="Arial" panose="020B0604020202020204" pitchFamily="34" charset="0"/>
              <a:buChar char="•"/>
            </a:pPr>
            <a:r>
              <a:rPr lang="en-US" sz="1000" dirty="0">
                <a:latin typeface="Foot Locker" panose="02000503000000020003" pitchFamily="50" charset="0"/>
              </a:rPr>
              <a:t>Discussion Topic – all values </a:t>
            </a:r>
          </a:p>
          <a:p>
            <a:pPr marL="628650" lvl="1" indent="-171450">
              <a:buFont typeface="Arial" panose="020B0604020202020204" pitchFamily="34" charset="0"/>
              <a:buChar char="•"/>
            </a:pPr>
            <a:r>
              <a:rPr lang="en-US" sz="1000" dirty="0">
                <a:latin typeface="Foot Locker" panose="02000503000000020003" pitchFamily="50" charset="0"/>
              </a:rPr>
              <a:t>Manage Continuous Performance</a:t>
            </a:r>
          </a:p>
          <a:p>
            <a:pPr marL="1085850" lvl="2" indent="-171450">
              <a:buFont typeface="Arial" panose="020B0604020202020204" pitchFamily="34" charset="0"/>
              <a:buChar char="•"/>
            </a:pPr>
            <a:r>
              <a:rPr lang="en-US" sz="1000" dirty="0">
                <a:latin typeface="Foot Locker" panose="02000503000000020003" pitchFamily="50" charset="0"/>
              </a:rPr>
              <a:t>Access to Administrative Configuration page</a:t>
            </a:r>
          </a:p>
          <a:p>
            <a:pPr marL="1085850" lvl="2" indent="-171450">
              <a:buFont typeface="Arial" panose="020B0604020202020204" pitchFamily="34" charset="0"/>
              <a:buChar char="•"/>
            </a:pPr>
            <a:r>
              <a:rPr lang="en-US" sz="1000" dirty="0">
                <a:latin typeface="Foot Locker" panose="02000503000000020003" pitchFamily="50" charset="0"/>
              </a:rPr>
              <a:t>Admin Access Permission to all Continuous Performance Management Data</a:t>
            </a:r>
          </a:p>
          <a:p>
            <a:pPr marL="1085850" lvl="2" indent="-171450">
              <a:buFont typeface="Arial" panose="020B0604020202020204" pitchFamily="34" charset="0"/>
              <a:buChar char="•"/>
            </a:pPr>
            <a:r>
              <a:rPr lang="en-US" sz="1000" dirty="0">
                <a:latin typeface="Foot Locker" panose="02000503000000020003" pitchFamily="50" charset="0"/>
              </a:rPr>
              <a:t>Admin Access to Delete Continuous Feedback Page</a:t>
            </a:r>
          </a:p>
          <a:p>
            <a:pPr marL="171450" indent="-171450">
              <a:buFont typeface="Arial" panose="020B0604020202020204" pitchFamily="34" charset="0"/>
              <a:buChar char="•"/>
            </a:pPr>
            <a:r>
              <a:rPr lang="en-US" sz="1000" dirty="0">
                <a:latin typeface="Foot Locker" panose="02000503000000020003" pitchFamily="50" charset="0"/>
              </a:rPr>
              <a:t>FL HR Champion:</a:t>
            </a:r>
          </a:p>
          <a:p>
            <a:pPr marL="628650" lvl="1" indent="-171450">
              <a:buFont typeface="Arial" panose="020B0604020202020204" pitchFamily="34" charset="0"/>
              <a:buChar char="•"/>
            </a:pPr>
            <a:r>
              <a:rPr lang="en-US" sz="1000" dirty="0">
                <a:latin typeface="Foot Locker" panose="02000503000000020003" pitchFamily="50" charset="0"/>
              </a:rPr>
              <a:t>Continuous Performance User Permission:</a:t>
            </a:r>
          </a:p>
          <a:p>
            <a:pPr marL="1085850" lvl="2" indent="-171450">
              <a:buFont typeface="Arial" panose="020B0604020202020204" pitchFamily="34" charset="0"/>
              <a:buChar char="•"/>
            </a:pPr>
            <a:r>
              <a:rPr lang="en-US" sz="1000" dirty="0">
                <a:latin typeface="Foot Locker" panose="02000503000000020003" pitchFamily="50" charset="0"/>
              </a:rPr>
              <a:t>Access to 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Access Continuous Feedback</a:t>
            </a:r>
          </a:p>
          <a:p>
            <a:pPr marL="1085850" lvl="2" indent="-171450">
              <a:buFont typeface="Arial" panose="020B0604020202020204" pitchFamily="34" charset="0"/>
              <a:buChar char="•"/>
            </a:pPr>
            <a:r>
              <a:rPr lang="en-US" sz="1000" dirty="0">
                <a:latin typeface="Foot Locker" panose="02000503000000020003" pitchFamily="50" charset="0"/>
              </a:rPr>
              <a:t>Give Continuous Feedback</a:t>
            </a:r>
          </a:p>
          <a:p>
            <a:pPr marL="1085850" lvl="2" indent="-171450">
              <a:buFont typeface="Arial" panose="020B0604020202020204" pitchFamily="34" charset="0"/>
              <a:buChar char="•"/>
            </a:pPr>
            <a:r>
              <a:rPr lang="en-US" sz="1000" dirty="0">
                <a:latin typeface="Foot Locker" panose="02000503000000020003" pitchFamily="50" charset="0"/>
              </a:rPr>
              <a:t>Request Feedback from others</a:t>
            </a:r>
          </a:p>
          <a:p>
            <a:pPr marL="628650" lvl="1" indent="-171450">
              <a:buFont typeface="Arial" panose="020B0604020202020204" pitchFamily="34" charset="0"/>
              <a:buChar char="•"/>
            </a:pPr>
            <a:r>
              <a:rPr lang="en-US" sz="1000" dirty="0">
                <a:latin typeface="Foot Locker" panose="02000503000000020003" pitchFamily="50" charset="0"/>
              </a:rPr>
              <a:t>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Achievement – View | Edit only</a:t>
            </a:r>
          </a:p>
          <a:p>
            <a:pPr marL="1085850" lvl="2" indent="-171450">
              <a:buFont typeface="Arial" panose="020B0604020202020204" pitchFamily="34" charset="0"/>
              <a:buChar char="•"/>
            </a:pPr>
            <a:r>
              <a:rPr lang="en-US" sz="1000" dirty="0">
                <a:latin typeface="Foot Locker" panose="02000503000000020003" pitchFamily="50" charset="0"/>
              </a:rPr>
              <a:t>Activity – View | Edit only</a:t>
            </a:r>
          </a:p>
          <a:p>
            <a:pPr marL="1085850" lvl="2" indent="-171450">
              <a:buFont typeface="Arial" panose="020B0604020202020204" pitchFamily="34" charset="0"/>
              <a:buChar char="•"/>
            </a:pPr>
            <a:r>
              <a:rPr lang="en-US" sz="1000" dirty="0">
                <a:latin typeface="Foot Locker" panose="02000503000000020003" pitchFamily="50" charset="0"/>
              </a:rPr>
              <a:t>Discussion Topic – View | Edit only</a:t>
            </a:r>
          </a:p>
          <a:p>
            <a:pPr marL="171450" indent="-171450">
              <a:buFont typeface="Arial" panose="020B0604020202020204" pitchFamily="34" charset="0"/>
              <a:buChar char="•"/>
            </a:pPr>
            <a:r>
              <a:rPr lang="en-US" sz="1000" dirty="0">
                <a:latin typeface="Foot Locker" panose="02000503000000020003" pitchFamily="50" charset="0"/>
              </a:rPr>
              <a:t>FL Manager:</a:t>
            </a:r>
          </a:p>
          <a:p>
            <a:pPr marL="628650" lvl="1" indent="-171450">
              <a:buFont typeface="Arial" panose="020B0604020202020204" pitchFamily="34" charset="0"/>
              <a:buChar char="•"/>
            </a:pPr>
            <a:r>
              <a:rPr lang="en-US" sz="1000" dirty="0">
                <a:latin typeface="Foot Locker" panose="02000503000000020003" pitchFamily="50" charset="0"/>
              </a:rPr>
              <a:t>Continuous Performance User Permission:</a:t>
            </a:r>
          </a:p>
          <a:p>
            <a:pPr marL="1085850" lvl="2" indent="-171450">
              <a:buFont typeface="Arial" panose="020B0604020202020204" pitchFamily="34" charset="0"/>
              <a:buChar char="•"/>
            </a:pPr>
            <a:r>
              <a:rPr lang="en-US" sz="1000" dirty="0">
                <a:latin typeface="Foot Locker" panose="02000503000000020003" pitchFamily="50" charset="0"/>
              </a:rPr>
              <a:t>Access to 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Access Continuous Feedback</a:t>
            </a:r>
          </a:p>
          <a:p>
            <a:pPr marL="1085850" lvl="2" indent="-171450">
              <a:buFont typeface="Arial" panose="020B0604020202020204" pitchFamily="34" charset="0"/>
              <a:buChar char="•"/>
            </a:pPr>
            <a:r>
              <a:rPr lang="en-US" sz="1000" dirty="0">
                <a:latin typeface="Foot Locker" panose="02000503000000020003" pitchFamily="50" charset="0"/>
              </a:rPr>
              <a:t>Give Continuous Feedback</a:t>
            </a:r>
          </a:p>
          <a:p>
            <a:pPr marL="1085850" lvl="2" indent="-171450">
              <a:buFont typeface="Arial" panose="020B0604020202020204" pitchFamily="34" charset="0"/>
              <a:buChar char="•"/>
            </a:pPr>
            <a:r>
              <a:rPr lang="en-US" sz="1000" dirty="0">
                <a:latin typeface="Foot Locker" panose="02000503000000020003" pitchFamily="50" charset="0"/>
              </a:rPr>
              <a:t>Request Feedback from others</a:t>
            </a:r>
          </a:p>
          <a:p>
            <a:pPr marL="628650" lvl="1" indent="-171450">
              <a:buFont typeface="Arial" panose="020B0604020202020204" pitchFamily="34" charset="0"/>
              <a:buChar char="•"/>
            </a:pPr>
            <a:r>
              <a:rPr lang="en-US" sz="1000" dirty="0">
                <a:latin typeface="Foot Locker" panose="02000503000000020003" pitchFamily="50" charset="0"/>
              </a:rPr>
              <a:t>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Achievement – View | Edit only</a:t>
            </a:r>
          </a:p>
          <a:p>
            <a:pPr marL="1085850" lvl="2" indent="-171450">
              <a:buFont typeface="Arial" panose="020B0604020202020204" pitchFamily="34" charset="0"/>
              <a:buChar char="•"/>
            </a:pPr>
            <a:r>
              <a:rPr lang="en-US" sz="1000" dirty="0">
                <a:latin typeface="Foot Locker" panose="02000503000000020003" pitchFamily="50" charset="0"/>
              </a:rPr>
              <a:t>Activity – View | Edit only</a:t>
            </a:r>
          </a:p>
          <a:p>
            <a:pPr marL="1085850" lvl="2" indent="-171450">
              <a:buFont typeface="Arial" panose="020B0604020202020204" pitchFamily="34" charset="0"/>
              <a:buChar char="•"/>
            </a:pPr>
            <a:r>
              <a:rPr lang="en-US" sz="1000" dirty="0">
                <a:latin typeface="Foot Locker" panose="02000503000000020003" pitchFamily="50" charset="0"/>
              </a:rPr>
              <a:t>Discussion Topic – View | Edit only | View Pending Approvals | Review Pending Approvals </a:t>
            </a:r>
          </a:p>
          <a:p>
            <a:pPr marL="171450" indent="-171450">
              <a:buFont typeface="Arial" panose="020B0604020202020204" pitchFamily="34" charset="0"/>
              <a:buChar char="•"/>
            </a:pPr>
            <a:r>
              <a:rPr lang="en-US" sz="1000" dirty="0">
                <a:latin typeface="Foot Locker" panose="02000503000000020003" pitchFamily="50" charset="0"/>
              </a:rPr>
              <a:t>FL Employee (Self View)</a:t>
            </a:r>
          </a:p>
          <a:p>
            <a:pPr marL="628650" lvl="1" indent="-171450">
              <a:buFont typeface="Arial" panose="020B0604020202020204" pitchFamily="34" charset="0"/>
              <a:buChar char="•"/>
            </a:pPr>
            <a:r>
              <a:rPr lang="en-US" sz="1000" dirty="0">
                <a:latin typeface="Foot Locker" panose="02000503000000020003" pitchFamily="50" charset="0"/>
              </a:rPr>
              <a:t>Continuous Performance User Permission:</a:t>
            </a:r>
          </a:p>
          <a:p>
            <a:pPr marL="1085850" lvl="2" indent="-171450">
              <a:buFont typeface="Arial" panose="020B0604020202020204" pitchFamily="34" charset="0"/>
              <a:buChar char="•"/>
            </a:pPr>
            <a:r>
              <a:rPr lang="en-US" sz="1000" dirty="0">
                <a:latin typeface="Foot Locker" panose="02000503000000020003" pitchFamily="50" charset="0"/>
              </a:rPr>
              <a:t>Access to 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Access Continuous Feedback</a:t>
            </a:r>
          </a:p>
          <a:p>
            <a:pPr marL="1085850" lvl="2" indent="-171450">
              <a:buFont typeface="Arial" panose="020B0604020202020204" pitchFamily="34" charset="0"/>
              <a:buChar char="•"/>
            </a:pPr>
            <a:r>
              <a:rPr lang="en-US" sz="1000" dirty="0">
                <a:latin typeface="Foot Locker" panose="02000503000000020003" pitchFamily="50" charset="0"/>
              </a:rPr>
              <a:t>Give Continuous Feedback</a:t>
            </a:r>
          </a:p>
          <a:p>
            <a:pPr marL="1085850" lvl="2" indent="-171450">
              <a:buFont typeface="Arial" panose="020B0604020202020204" pitchFamily="34" charset="0"/>
              <a:buChar char="•"/>
            </a:pPr>
            <a:r>
              <a:rPr lang="en-US" sz="1000" dirty="0">
                <a:latin typeface="Foot Locker" panose="02000503000000020003" pitchFamily="50" charset="0"/>
              </a:rPr>
              <a:t>Request Feedback from others</a:t>
            </a:r>
          </a:p>
          <a:p>
            <a:pPr marL="1085850" lvl="2" indent="-171450">
              <a:buFont typeface="Arial" panose="020B0604020202020204" pitchFamily="34" charset="0"/>
              <a:buChar char="•"/>
            </a:pPr>
            <a:r>
              <a:rPr lang="en-US" sz="1000" dirty="0">
                <a:latin typeface="Foot Locker" panose="02000503000000020003" pitchFamily="50" charset="0"/>
              </a:rPr>
              <a:t>Limit about whom feedback can be requested </a:t>
            </a:r>
          </a:p>
          <a:p>
            <a:pPr marL="628650" lvl="1" indent="-171450">
              <a:buFont typeface="Arial" panose="020B0604020202020204" pitchFamily="34" charset="0"/>
              <a:buChar char="•"/>
            </a:pPr>
            <a:r>
              <a:rPr lang="en-US" sz="1000" dirty="0">
                <a:latin typeface="Foot Locker" panose="02000503000000020003" pitchFamily="50" charset="0"/>
              </a:rPr>
              <a:t>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Achievement – View | Edit only</a:t>
            </a:r>
          </a:p>
          <a:p>
            <a:pPr marL="1085850" lvl="2" indent="-171450">
              <a:buFont typeface="Arial" panose="020B0604020202020204" pitchFamily="34" charset="0"/>
              <a:buChar char="•"/>
            </a:pPr>
            <a:r>
              <a:rPr lang="en-US" sz="1000" dirty="0">
                <a:latin typeface="Foot Locker" panose="02000503000000020003" pitchFamily="50" charset="0"/>
              </a:rPr>
              <a:t>Activity – View | Edit only</a:t>
            </a:r>
          </a:p>
          <a:p>
            <a:pPr marL="1085850" lvl="2" indent="-171450">
              <a:buFont typeface="Arial" panose="020B0604020202020204" pitchFamily="34" charset="0"/>
              <a:buChar char="•"/>
            </a:pPr>
            <a:r>
              <a:rPr lang="en-US" sz="1000" dirty="0">
                <a:latin typeface="Foot Locker" panose="02000503000000020003" pitchFamily="50" charset="0"/>
              </a:rPr>
              <a:t>Discussion Topic – View | Edit only</a:t>
            </a:r>
          </a:p>
          <a:p>
            <a:pPr marL="171450" indent="-171450">
              <a:buFont typeface="Arial" panose="020B0604020202020204" pitchFamily="34" charset="0"/>
              <a:buChar char="•"/>
            </a:pPr>
            <a:r>
              <a:rPr lang="en-US" sz="1000" dirty="0">
                <a:latin typeface="Foot Locker" panose="02000503000000020003" pitchFamily="50" charset="0"/>
              </a:rPr>
              <a:t>FL GMPM Admin:</a:t>
            </a:r>
          </a:p>
          <a:p>
            <a:pPr marL="628650" lvl="1" indent="-171450">
              <a:buFont typeface="Arial" panose="020B0604020202020204" pitchFamily="34" charset="0"/>
              <a:buChar char="•"/>
            </a:pPr>
            <a:r>
              <a:rPr lang="en-US" sz="1000" dirty="0">
                <a:latin typeface="Foot Locker" panose="02000503000000020003" pitchFamily="50" charset="0"/>
              </a:rPr>
              <a:t>Continuous Performance User Permission:</a:t>
            </a:r>
          </a:p>
          <a:p>
            <a:pPr marL="1085850" lvl="2" indent="-171450">
              <a:buFont typeface="Arial" panose="020B0604020202020204" pitchFamily="34" charset="0"/>
              <a:buChar char="•"/>
            </a:pPr>
            <a:r>
              <a:rPr lang="en-US" sz="1000" dirty="0">
                <a:latin typeface="Foot Locker" panose="02000503000000020003" pitchFamily="50" charset="0"/>
              </a:rPr>
              <a:t>Access to 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Access Continuous Feedback</a:t>
            </a:r>
          </a:p>
          <a:p>
            <a:pPr marL="1085850" lvl="2" indent="-171450">
              <a:buFont typeface="Arial" panose="020B0604020202020204" pitchFamily="34" charset="0"/>
              <a:buChar char="•"/>
            </a:pPr>
            <a:r>
              <a:rPr lang="en-US" sz="1000" dirty="0">
                <a:latin typeface="Foot Locker" panose="02000503000000020003" pitchFamily="50" charset="0"/>
              </a:rPr>
              <a:t>Give Continuous Feedback</a:t>
            </a:r>
          </a:p>
          <a:p>
            <a:pPr marL="1085850" lvl="2" indent="-171450">
              <a:buFont typeface="Arial" panose="020B0604020202020204" pitchFamily="34" charset="0"/>
              <a:buChar char="•"/>
            </a:pPr>
            <a:r>
              <a:rPr lang="en-US" sz="1000" dirty="0">
                <a:latin typeface="Foot Locker" panose="02000503000000020003" pitchFamily="50" charset="0"/>
              </a:rPr>
              <a:t>Request Feedback from others</a:t>
            </a:r>
          </a:p>
          <a:p>
            <a:pPr marL="628650" lvl="1" indent="-171450">
              <a:buFont typeface="Arial" panose="020B0604020202020204" pitchFamily="34" charset="0"/>
              <a:buChar char="•"/>
            </a:pPr>
            <a:r>
              <a:rPr lang="en-US" sz="1000" dirty="0">
                <a:latin typeface="Foot Locker" panose="02000503000000020003" pitchFamily="50" charset="0"/>
              </a:rPr>
              <a:t>Continuous Performance Management:</a:t>
            </a:r>
          </a:p>
          <a:p>
            <a:pPr marL="1085850" lvl="2" indent="-171450">
              <a:buFont typeface="Arial" panose="020B0604020202020204" pitchFamily="34" charset="0"/>
              <a:buChar char="•"/>
            </a:pPr>
            <a:r>
              <a:rPr lang="en-US" sz="1000" dirty="0">
                <a:latin typeface="Foot Locker" panose="02000503000000020003" pitchFamily="50" charset="0"/>
              </a:rPr>
              <a:t>Achievement – all values </a:t>
            </a:r>
          </a:p>
          <a:p>
            <a:pPr marL="1085850" lvl="2" indent="-171450">
              <a:buFont typeface="Arial" panose="020B0604020202020204" pitchFamily="34" charset="0"/>
              <a:buChar char="•"/>
            </a:pPr>
            <a:r>
              <a:rPr lang="en-US" sz="1000" dirty="0">
                <a:latin typeface="Foot Locker" panose="02000503000000020003" pitchFamily="50" charset="0"/>
              </a:rPr>
              <a:t>Activity – all values</a:t>
            </a:r>
          </a:p>
          <a:p>
            <a:pPr marL="1085850" lvl="2" indent="-171450">
              <a:buFont typeface="Arial" panose="020B0604020202020204" pitchFamily="34" charset="0"/>
              <a:buChar char="•"/>
            </a:pPr>
            <a:r>
              <a:rPr lang="en-US" sz="1000" dirty="0">
                <a:latin typeface="Foot Locker" panose="02000503000000020003" pitchFamily="50" charset="0"/>
              </a:rPr>
              <a:t>Discussion Topic – all values </a:t>
            </a:r>
          </a:p>
          <a:p>
            <a:pPr marL="628650" lvl="1" indent="-171450">
              <a:buFont typeface="Arial" panose="020B0604020202020204" pitchFamily="34" charset="0"/>
              <a:buChar char="•"/>
            </a:pPr>
            <a:r>
              <a:rPr lang="en-US" sz="1000" dirty="0">
                <a:latin typeface="Foot Locker" panose="02000503000000020003" pitchFamily="50" charset="0"/>
              </a:rPr>
              <a:t>Manage Continuous Performance</a:t>
            </a:r>
          </a:p>
          <a:p>
            <a:pPr marL="1085850" lvl="2" indent="-171450">
              <a:buFont typeface="Arial" panose="020B0604020202020204" pitchFamily="34" charset="0"/>
              <a:buChar char="•"/>
            </a:pPr>
            <a:r>
              <a:rPr lang="en-US" sz="1000" dirty="0">
                <a:latin typeface="Foot Locker" panose="02000503000000020003" pitchFamily="50" charset="0"/>
              </a:rPr>
              <a:t>Admin Access Permission to all Continuous Performance Management Data</a:t>
            </a:r>
          </a:p>
          <a:p>
            <a:pPr marL="1085850" lvl="2" indent="-171450">
              <a:buFont typeface="Arial" panose="020B0604020202020204" pitchFamily="34" charset="0"/>
              <a:buChar char="•"/>
            </a:pPr>
            <a:r>
              <a:rPr lang="en-US" sz="1000" dirty="0">
                <a:latin typeface="Foot Locker" panose="02000503000000020003" pitchFamily="50" charset="0"/>
              </a:rPr>
              <a:t>Admin Access to Delete Continuous Feedback Page</a:t>
            </a:r>
          </a:p>
          <a:p>
            <a:pPr marL="628650" lvl="1" indent="-171450">
              <a:buFont typeface="Arial" panose="020B0604020202020204" pitchFamily="34" charset="0"/>
              <a:buChar char="•"/>
            </a:pPr>
            <a:endParaRPr lang="en-US" sz="1000" dirty="0">
              <a:latin typeface="Foot Locker" panose="02000503000000020003" pitchFamily="50" charset="0"/>
            </a:endParaRPr>
          </a:p>
          <a:p>
            <a:pPr marL="628650" lvl="1" indent="-171450">
              <a:buFont typeface="Arial" panose="020B0604020202020204" pitchFamily="34" charset="0"/>
              <a:buChar char="•"/>
            </a:pPr>
            <a:endParaRPr lang="en-US" sz="1000" dirty="0">
              <a:latin typeface="Foot Locker" panose="02000503000000020003" pitchFamily="50" charset="0"/>
            </a:endParaRPr>
          </a:p>
          <a:p>
            <a:pPr marL="628650" lvl="1" indent="-171450">
              <a:buFont typeface="Arial" panose="020B0604020202020204" pitchFamily="34" charset="0"/>
              <a:buChar char="•"/>
            </a:pPr>
            <a:endParaRPr lang="en-US" sz="1000" dirty="0">
              <a:latin typeface="Foot Locker" panose="02000503000000020003" pitchFamily="50" charset="0"/>
            </a:endParaRPr>
          </a:p>
          <a:p>
            <a:pPr marL="171450" indent="-171450">
              <a:buFont typeface="Arial" panose="020B0604020202020204" pitchFamily="34" charset="0"/>
              <a:buChar char="•"/>
            </a:pPr>
            <a:endParaRPr lang="en-US" sz="1000" dirty="0">
              <a:latin typeface="Foot Locker" panose="02000503000000020003" pitchFamily="50" charset="0"/>
            </a:endParaRPr>
          </a:p>
        </p:txBody>
      </p:sp>
    </p:spTree>
    <p:extLst>
      <p:ext uri="{BB962C8B-B14F-4D97-AF65-F5344CB8AC3E}">
        <p14:creationId xmlns:p14="http://schemas.microsoft.com/office/powerpoint/2010/main" val="9452799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b83e9d4-1f85-4e06-a066-aef1d46ef089}" enabled="1" method="Standard" siteId="{3698556c-48eb-4511-8a0e-5fb6b7ebb01f}" contentBits="0" removed="0"/>
</clbl:labelList>
</file>

<file path=docProps/app.xml><?xml version="1.0" encoding="utf-8"?>
<Properties xmlns="http://schemas.openxmlformats.org/officeDocument/2006/extended-properties" xmlns:vt="http://schemas.openxmlformats.org/officeDocument/2006/docPropsVTypes">
  <Template>Office Theme</Template>
  <TotalTime>247</TotalTime>
  <Words>653</Words>
  <Application>Microsoft Office PowerPoint</Application>
  <PresentationFormat>Widescreen</PresentationFormat>
  <Paragraphs>96</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Aptos</vt:lpstr>
      <vt:lpstr>Aptos Display</vt:lpstr>
      <vt:lpstr>Arial</vt:lpstr>
      <vt:lpstr>Calibri</vt:lpstr>
      <vt:lpstr>Foot Locker</vt:lpstr>
      <vt:lpstr>FootLocker FL Classic</vt:lpstr>
      <vt:lpstr>Office Theme</vt:lpstr>
      <vt:lpstr>PowerPoint Presentation</vt:lpstr>
      <vt:lpstr>PowerPoint Presentation</vt:lpstr>
    </vt:vector>
  </TitlesOfParts>
  <Company>Foot Locker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Aquino</dc:creator>
  <cp:lastModifiedBy>Ashley Aquino</cp:lastModifiedBy>
  <cp:revision>5</cp:revision>
  <dcterms:created xsi:type="dcterms:W3CDTF">2025-01-14T16:04:40Z</dcterms:created>
  <dcterms:modified xsi:type="dcterms:W3CDTF">2025-02-06T18:50:34Z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Foot Locker - Internal Use Only</vt:lpwstr>
  </property>
</Properties>
</file>