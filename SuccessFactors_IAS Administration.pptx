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6858000" cy="12192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08" autoAdjust="0"/>
    <p:restoredTop sz="94660"/>
  </p:normalViewPr>
  <p:slideViewPr>
    <p:cSldViewPr snapToGrid="0">
      <p:cViewPr>
        <p:scale>
          <a:sx n="78" d="100"/>
          <a:sy n="78" d="100"/>
        </p:scale>
        <p:origin x="744" y="-12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995312"/>
            <a:ext cx="5829300" cy="4244622"/>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6403623"/>
            <a:ext cx="5143500" cy="2943577"/>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085681-EDF5-4B11-92D8-182FD6196805}"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3303282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085681-EDF5-4B11-92D8-182FD6196805}"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1722257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3039537"/>
            <a:ext cx="5915025" cy="5071532"/>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8159048"/>
            <a:ext cx="5915025" cy="266699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085681-EDF5-4B11-92D8-182FD6196805}"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228957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3245556"/>
            <a:ext cx="2914650" cy="77357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085681-EDF5-4B11-92D8-182FD6196805}"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1475559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649114"/>
            <a:ext cx="5915025" cy="2356556"/>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988734"/>
            <a:ext cx="2901255"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4453467"/>
            <a:ext cx="2901255"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988734"/>
            <a:ext cx="2915543" cy="146473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4453467"/>
            <a:ext cx="2915543" cy="65503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085681-EDF5-4B11-92D8-182FD6196805}" type="datetimeFigureOut">
              <a:rPr lang="en-US" smtClean="0"/>
              <a:t>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445571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085681-EDF5-4B11-92D8-182FD6196805}" type="datetimeFigureOut">
              <a:rPr lang="en-US" smtClean="0"/>
              <a:t>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31392468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085681-EDF5-4B11-92D8-182FD6196805}" type="datetimeFigureOut">
              <a:rPr lang="en-US" smtClean="0"/>
              <a:t>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132300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755425"/>
            <a:ext cx="3471863" cy="8664222"/>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F085681-EDF5-4B11-92D8-182FD6196805}"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4898929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812800"/>
            <a:ext cx="2211884" cy="28448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755425"/>
            <a:ext cx="3471863" cy="8664222"/>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3657600"/>
            <a:ext cx="2211884" cy="677615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F085681-EDF5-4B11-92D8-182FD6196805}" type="datetimeFigureOut">
              <a:rPr lang="en-US" smtClean="0"/>
              <a:t>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1803304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085681-EDF5-4B11-92D8-182FD6196805}"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3213389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649111"/>
            <a:ext cx="1478756" cy="1033215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649111"/>
            <a:ext cx="4350544" cy="103321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085681-EDF5-4B11-92D8-182FD6196805}" type="datetimeFigureOut">
              <a:rPr lang="en-US" smtClean="0"/>
              <a:t>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1A0284-0149-4FBD-8480-278F5F0B53C4}" type="slidenum">
              <a:rPr lang="en-US" smtClean="0"/>
              <a:t>‹#›</a:t>
            </a:fld>
            <a:endParaRPr lang="en-US"/>
          </a:p>
        </p:txBody>
      </p:sp>
    </p:spTree>
    <p:extLst>
      <p:ext uri="{BB962C8B-B14F-4D97-AF65-F5344CB8AC3E}">
        <p14:creationId xmlns:p14="http://schemas.microsoft.com/office/powerpoint/2010/main" val="441352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649114"/>
            <a:ext cx="5915025" cy="23565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3245556"/>
            <a:ext cx="5915025" cy="77357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11300181"/>
            <a:ext cx="1543050" cy="649111"/>
          </a:xfrm>
          <a:prstGeom prst="rect">
            <a:avLst/>
          </a:prstGeom>
        </p:spPr>
        <p:txBody>
          <a:bodyPr vert="horz" lIns="91440" tIns="45720" rIns="91440" bIns="45720" rtlCol="0" anchor="ctr"/>
          <a:lstStyle>
            <a:lvl1pPr algn="l">
              <a:defRPr sz="900">
                <a:solidFill>
                  <a:schemeClr val="tx1">
                    <a:tint val="82000"/>
                  </a:schemeClr>
                </a:solidFill>
              </a:defRPr>
            </a:lvl1pPr>
          </a:lstStyle>
          <a:p>
            <a:fld id="{BF085681-EDF5-4B11-92D8-182FD6196805}" type="datetimeFigureOut">
              <a:rPr lang="en-US" smtClean="0"/>
              <a:t>1/8/2025</a:t>
            </a:fld>
            <a:endParaRPr lang="en-US"/>
          </a:p>
        </p:txBody>
      </p:sp>
      <p:sp>
        <p:nvSpPr>
          <p:cNvPr id="5" name="Footer Placeholder 4"/>
          <p:cNvSpPr>
            <a:spLocks noGrp="1"/>
          </p:cNvSpPr>
          <p:nvPr>
            <p:ph type="ftr" sz="quarter" idx="3"/>
          </p:nvPr>
        </p:nvSpPr>
        <p:spPr>
          <a:xfrm>
            <a:off x="2271713" y="11300181"/>
            <a:ext cx="2314575" cy="649111"/>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11300181"/>
            <a:ext cx="1543050" cy="649111"/>
          </a:xfrm>
          <a:prstGeom prst="rect">
            <a:avLst/>
          </a:prstGeom>
        </p:spPr>
        <p:txBody>
          <a:bodyPr vert="horz" lIns="91440" tIns="45720" rIns="91440" bIns="45720" rtlCol="0" anchor="ctr"/>
          <a:lstStyle>
            <a:lvl1pPr algn="r">
              <a:defRPr sz="900">
                <a:solidFill>
                  <a:schemeClr val="tx1">
                    <a:tint val="82000"/>
                  </a:schemeClr>
                </a:solidFill>
              </a:defRPr>
            </a:lvl1pPr>
          </a:lstStyle>
          <a:p>
            <a:fld id="{0A1A0284-0149-4FBD-8480-278F5F0B53C4}" type="slidenum">
              <a:rPr lang="en-US" smtClean="0"/>
              <a:t>‹#›</a:t>
            </a:fld>
            <a:endParaRPr lang="en-US"/>
          </a:p>
        </p:txBody>
      </p:sp>
      <p:sp>
        <p:nvSpPr>
          <p:cNvPr id="8" name="TextBox 7">
            <a:extLst>
              <a:ext uri="{FF2B5EF4-FFF2-40B4-BE49-F238E27FC236}">
                <a16:creationId xmlns:a16="http://schemas.microsoft.com/office/drawing/2014/main" id="{3AA42702-4594-4A18-B472-8AD954DEF9BF}"/>
              </a:ext>
            </a:extLst>
          </p:cNvPr>
          <p:cNvSpPr txBox="1"/>
          <p:nvPr userDrawn="1">
            <p:extLst>
              <p:ext uri="{1162E1C5-73C7-4A58-AE30-91384D911F3F}">
                <p184:classification xmlns:p184="http://schemas.microsoft.com/office/powerpoint/2018/4/main" val="ftr"/>
              </p:ext>
            </p:extLst>
          </p:nvPr>
        </p:nvSpPr>
        <p:spPr>
          <a:xfrm>
            <a:off x="63500" y="11945620"/>
            <a:ext cx="1949450" cy="182880"/>
          </a:xfrm>
          <a:prstGeom prst="rect">
            <a:avLst/>
          </a:prstGeom>
        </p:spPr>
        <p:txBody>
          <a:bodyPr horzOverflow="overflow" lIns="0" tIns="0" rIns="0" bIns="0">
            <a:spAutoFit/>
          </a:bodyPr>
          <a:lstStyle/>
          <a:p>
            <a:pPr algn="l"/>
            <a:r>
              <a:rPr lang="en-US" sz="1200">
                <a:solidFill>
                  <a:srgbClr val="FF0000"/>
                </a:solidFill>
                <a:latin typeface="Calibri" panose="020F0502020204030204" pitchFamily="34" charset="0"/>
                <a:ea typeface="Calibri" panose="020F0502020204030204" pitchFamily="34" charset="0"/>
                <a:cs typeface="Calibri" panose="020F0502020204030204" pitchFamily="34" charset="0"/>
              </a:rPr>
              <a:t>Foot Locker - Internal Use Only</a:t>
            </a:r>
          </a:p>
        </p:txBody>
      </p:sp>
    </p:spTree>
    <p:extLst>
      <p:ext uri="{BB962C8B-B14F-4D97-AF65-F5344CB8AC3E}">
        <p14:creationId xmlns:p14="http://schemas.microsoft.com/office/powerpoint/2010/main" val="37047560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7.png"/><Relationship Id="rId5" Type="http://schemas.openxmlformats.org/officeDocument/2006/relationships/hyperlink" Target="https://a7vrvmecq.accounts.ondemand.com/saml2/idp/sso?sp=oac.accounts.sap.com&amp;RelayState=https%3A%2F%2Fa7vrvmecq.accounts.ondemand.com%2Fadmin%2F%23" TargetMode="External"/><Relationship Id="rId10" Type="http://schemas.openxmlformats.org/officeDocument/2006/relationships/image" Target="../media/image6.png"/><Relationship Id="rId4" Type="http://schemas.openxmlformats.org/officeDocument/2006/relationships/hyperlink" Target="https://aivk0aqdd.accounts.ondemand.com/saml2/idp/sso?sp=oac.accounts.sap.com&amp;RelayState=https%3A%2F%2Faivk0aqdd.accounts.ondemand.com%2Fadmin%2F%23" TargetMode="External"/><Relationship Id="rId9" Type="http://schemas.openxmlformats.org/officeDocument/2006/relationships/hyperlink" Target="mailto:HRIS.SuccessFactors@footlocker.com"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help.sap.com/docs/SUPPORT_CONTENT/btpcfsec/3881102494.html?q=ias+error+message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CC099B7-466D-3EBB-9723-D6161A36FB9C}"/>
              </a:ext>
            </a:extLst>
          </p:cNvPr>
          <p:cNvPicPr>
            <a:picLocks noChangeAspect="1"/>
          </p:cNvPicPr>
          <p:nvPr/>
        </p:nvPicPr>
        <p:blipFill>
          <a:blip r:embed="rId2"/>
          <a:stretch>
            <a:fillRect/>
          </a:stretch>
        </p:blipFill>
        <p:spPr>
          <a:xfrm>
            <a:off x="0" y="-1"/>
            <a:ext cx="6858000" cy="659639"/>
          </a:xfrm>
          <a:prstGeom prst="rect">
            <a:avLst/>
          </a:prstGeom>
        </p:spPr>
      </p:pic>
      <p:sp>
        <p:nvSpPr>
          <p:cNvPr id="10" name="TextBox 9">
            <a:extLst>
              <a:ext uri="{FF2B5EF4-FFF2-40B4-BE49-F238E27FC236}">
                <a16:creationId xmlns:a16="http://schemas.microsoft.com/office/drawing/2014/main" id="{83EB9775-110C-A71E-3E7D-2A4520972C74}"/>
              </a:ext>
            </a:extLst>
          </p:cNvPr>
          <p:cNvSpPr txBox="1"/>
          <p:nvPr/>
        </p:nvSpPr>
        <p:spPr>
          <a:xfrm>
            <a:off x="0" y="-1"/>
            <a:ext cx="5643155" cy="400110"/>
          </a:xfrm>
          <a:prstGeom prst="rect">
            <a:avLst/>
          </a:prstGeom>
          <a:noFill/>
        </p:spPr>
        <p:txBody>
          <a:bodyPr wrap="square" rtlCol="0">
            <a:spAutoFit/>
          </a:bodyPr>
          <a:lstStyle/>
          <a:p>
            <a:r>
              <a:rPr lang="en-US" sz="2000" b="1" dirty="0">
                <a:solidFill>
                  <a:schemeClr val="bg1"/>
                </a:solidFill>
                <a:latin typeface="Foot Locker" panose="02000503000000020003" pitchFamily="50" charset="0"/>
              </a:rPr>
              <a:t>SuccessFactors: IAS Administration</a:t>
            </a:r>
          </a:p>
        </p:txBody>
      </p:sp>
      <p:pic>
        <p:nvPicPr>
          <p:cNvPr id="11" name="Picture 10">
            <a:extLst>
              <a:ext uri="{FF2B5EF4-FFF2-40B4-BE49-F238E27FC236}">
                <a16:creationId xmlns:a16="http://schemas.microsoft.com/office/drawing/2014/main" id="{81981215-63A6-5CAF-5EAF-0A1CA4CE3A14}"/>
              </a:ext>
            </a:extLst>
          </p:cNvPr>
          <p:cNvPicPr>
            <a:picLocks noChangeAspect="1"/>
          </p:cNvPicPr>
          <p:nvPr/>
        </p:nvPicPr>
        <p:blipFill>
          <a:blip r:embed="rId3"/>
          <a:stretch>
            <a:fillRect/>
          </a:stretch>
        </p:blipFill>
        <p:spPr>
          <a:xfrm flipV="1">
            <a:off x="0" y="659636"/>
            <a:ext cx="6858000" cy="103517"/>
          </a:xfrm>
          <a:prstGeom prst="rect">
            <a:avLst/>
          </a:prstGeom>
        </p:spPr>
      </p:pic>
      <p:sp>
        <p:nvSpPr>
          <p:cNvPr id="12" name="TextBox 11">
            <a:extLst>
              <a:ext uri="{FF2B5EF4-FFF2-40B4-BE49-F238E27FC236}">
                <a16:creationId xmlns:a16="http://schemas.microsoft.com/office/drawing/2014/main" id="{4B404AD8-3122-BAF6-D696-74BA0803E1E4}"/>
              </a:ext>
            </a:extLst>
          </p:cNvPr>
          <p:cNvSpPr txBox="1"/>
          <p:nvPr/>
        </p:nvSpPr>
        <p:spPr>
          <a:xfrm>
            <a:off x="0" y="763153"/>
            <a:ext cx="6436723" cy="646331"/>
          </a:xfrm>
          <a:prstGeom prst="rect">
            <a:avLst/>
          </a:prstGeom>
          <a:noFill/>
        </p:spPr>
        <p:txBody>
          <a:bodyPr wrap="square" rtlCol="0">
            <a:spAutoFit/>
          </a:bodyPr>
          <a:lstStyle/>
          <a:p>
            <a:r>
              <a:rPr lang="en-US" sz="1200" dirty="0">
                <a:latin typeface="Foot Locker" panose="02000503000000020003" pitchFamily="50" charset="0"/>
              </a:rPr>
              <a:t>Use this guide to aid in the administration and maintenance of the Identity Authentication Service for SuccessFactors. </a:t>
            </a:r>
            <a:r>
              <a:rPr lang="en-US" sz="1200" b="1" dirty="0">
                <a:solidFill>
                  <a:srgbClr val="FF0000"/>
                </a:solidFill>
                <a:latin typeface="Foot Locker" panose="02000503000000020003" pitchFamily="50" charset="0"/>
              </a:rPr>
              <a:t>Note:</a:t>
            </a:r>
            <a:r>
              <a:rPr lang="en-US" sz="1200" dirty="0">
                <a:latin typeface="Foot Locker" panose="02000503000000020003" pitchFamily="50" charset="0"/>
              </a:rPr>
              <a:t> IAS is used to ensure that our users are able to securely access SuccessFactors   </a:t>
            </a:r>
          </a:p>
        </p:txBody>
      </p:sp>
      <p:pic>
        <p:nvPicPr>
          <p:cNvPr id="13" name="Picture 12">
            <a:extLst>
              <a:ext uri="{FF2B5EF4-FFF2-40B4-BE49-F238E27FC236}">
                <a16:creationId xmlns:a16="http://schemas.microsoft.com/office/drawing/2014/main" id="{A9E0F6B6-583E-0BE0-B27E-74528B8DA3A2}"/>
              </a:ext>
            </a:extLst>
          </p:cNvPr>
          <p:cNvPicPr>
            <a:picLocks noChangeAspect="1"/>
          </p:cNvPicPr>
          <p:nvPr/>
        </p:nvPicPr>
        <p:blipFill>
          <a:blip r:embed="rId3"/>
          <a:stretch>
            <a:fillRect/>
          </a:stretch>
        </p:blipFill>
        <p:spPr>
          <a:xfrm flipV="1">
            <a:off x="0" y="1409484"/>
            <a:ext cx="6858000" cy="103517"/>
          </a:xfrm>
          <a:prstGeom prst="rect">
            <a:avLst/>
          </a:prstGeom>
        </p:spPr>
      </p:pic>
      <p:sp>
        <p:nvSpPr>
          <p:cNvPr id="14" name="TextBox 13">
            <a:extLst>
              <a:ext uri="{FF2B5EF4-FFF2-40B4-BE49-F238E27FC236}">
                <a16:creationId xmlns:a16="http://schemas.microsoft.com/office/drawing/2014/main" id="{F6F4CC48-64FB-8EC4-6038-D8DAC1FB9753}"/>
              </a:ext>
            </a:extLst>
          </p:cNvPr>
          <p:cNvSpPr txBox="1"/>
          <p:nvPr/>
        </p:nvSpPr>
        <p:spPr>
          <a:xfrm>
            <a:off x="88174" y="1626326"/>
            <a:ext cx="3840480" cy="4339650"/>
          </a:xfrm>
          <a:prstGeom prst="rect">
            <a:avLst/>
          </a:prstGeom>
          <a:noFill/>
        </p:spPr>
        <p:txBody>
          <a:bodyPr wrap="square" rtlCol="0">
            <a:spAutoFit/>
          </a:bodyPr>
          <a:lstStyle/>
          <a:p>
            <a:r>
              <a:rPr lang="en-US" sz="1200" dirty="0">
                <a:latin typeface="Foot Locker" panose="02000503000000020003" pitchFamily="50" charset="0"/>
                <a:hlinkClick r:id="rId4"/>
              </a:rPr>
              <a:t>IAS Link for Production</a:t>
            </a:r>
            <a:endParaRPr lang="en-US" sz="1200" dirty="0">
              <a:latin typeface="Foot Locker" panose="02000503000000020003" pitchFamily="50" charset="0"/>
            </a:endParaRPr>
          </a:p>
          <a:p>
            <a:r>
              <a:rPr lang="en-US" sz="1200" dirty="0">
                <a:latin typeface="Foot Locker" panose="02000503000000020003" pitchFamily="50" charset="0"/>
                <a:hlinkClick r:id="rId5"/>
              </a:rPr>
              <a:t>IAS Link for Test</a:t>
            </a:r>
            <a:endParaRPr lang="en-US" sz="1200" dirty="0">
              <a:latin typeface="Foot Locker" panose="02000503000000020003" pitchFamily="50" charset="0"/>
            </a:endParaRPr>
          </a:p>
          <a:p>
            <a:endParaRPr lang="en-US" sz="1200" dirty="0">
              <a:latin typeface="Foot Locker" panose="02000503000000020003" pitchFamily="50" charset="0"/>
            </a:endParaRPr>
          </a:p>
          <a:p>
            <a:r>
              <a:rPr lang="en-US" sz="1200" dirty="0">
                <a:latin typeface="Foot Locker" panose="02000503000000020003" pitchFamily="50" charset="0"/>
              </a:rPr>
              <a:t>Access the site – </a:t>
            </a:r>
            <a:r>
              <a:rPr lang="en-US" sz="1200" b="1" dirty="0">
                <a:solidFill>
                  <a:srgbClr val="FF0000"/>
                </a:solidFill>
                <a:latin typeface="Foot Locker" panose="02000503000000020003" pitchFamily="50" charset="0"/>
              </a:rPr>
              <a:t>Note: </a:t>
            </a:r>
            <a:r>
              <a:rPr lang="en-US" sz="1200" dirty="0">
                <a:latin typeface="Foot Locker" panose="02000503000000020003" pitchFamily="50" charset="0"/>
              </a:rPr>
              <a:t>all admins will need to be setup with an admin account for IAS</a:t>
            </a:r>
          </a:p>
          <a:p>
            <a:endParaRPr lang="en-US" sz="1200" dirty="0">
              <a:latin typeface="Foot Locker" panose="02000503000000020003" pitchFamily="50" charset="0"/>
            </a:endParaRPr>
          </a:p>
          <a:p>
            <a:r>
              <a:rPr lang="en-US" sz="1200" dirty="0">
                <a:latin typeface="Foot Locker" panose="02000503000000020003" pitchFamily="50" charset="0"/>
              </a:rPr>
              <a:t>Create an Admin:</a:t>
            </a:r>
          </a:p>
          <a:p>
            <a:pPr marL="228600" indent="-228600">
              <a:buFont typeface="+mj-lt"/>
              <a:buAutoNum type="arabicPeriod"/>
            </a:pPr>
            <a:r>
              <a:rPr lang="en-US" sz="1200" dirty="0">
                <a:latin typeface="Foot Locker" panose="02000503000000020003" pitchFamily="50" charset="0"/>
              </a:rPr>
              <a:t>Users &amp; Authorizations</a:t>
            </a:r>
          </a:p>
          <a:p>
            <a:pPr marL="228600" indent="-228600">
              <a:buFont typeface="+mj-lt"/>
              <a:buAutoNum type="arabicPeriod"/>
            </a:pPr>
            <a:r>
              <a:rPr lang="en-US" sz="1200" dirty="0">
                <a:latin typeface="Foot Locker" panose="02000503000000020003" pitchFamily="50" charset="0"/>
              </a:rPr>
              <a:t>Administrators</a:t>
            </a:r>
          </a:p>
          <a:p>
            <a:pPr marL="228600" indent="-228600">
              <a:buFont typeface="+mj-lt"/>
              <a:buAutoNum type="arabicPeriod"/>
            </a:pPr>
            <a:r>
              <a:rPr lang="en-US" sz="1200" dirty="0">
                <a:latin typeface="Foot Locker" panose="02000503000000020003" pitchFamily="50" charset="0"/>
              </a:rPr>
              <a:t>Click                   User</a:t>
            </a:r>
          </a:p>
          <a:p>
            <a:pPr marL="228600" indent="-228600">
              <a:buFont typeface="+mj-lt"/>
              <a:buAutoNum type="arabicPeriod"/>
            </a:pPr>
            <a:r>
              <a:rPr lang="en-US" sz="1200" dirty="0">
                <a:latin typeface="Foot Locker" panose="02000503000000020003" pitchFamily="50" charset="0"/>
              </a:rPr>
              <a:t>The Identifier should be your Foot Locker email address with “.admin” at the end, followed by entering in your first and last name </a:t>
            </a:r>
          </a:p>
          <a:p>
            <a:pPr marL="228600" indent="-228600">
              <a:buFont typeface="+mj-lt"/>
              <a:buAutoNum type="arabicPeriod"/>
            </a:pPr>
            <a:r>
              <a:rPr lang="en-US" sz="1200" dirty="0">
                <a:latin typeface="Foot Locker" panose="02000503000000020003" pitchFamily="50" charset="0"/>
              </a:rPr>
              <a:t>Configure all authorizations to match current admins</a:t>
            </a:r>
          </a:p>
          <a:p>
            <a:pPr marL="228600" indent="-228600">
              <a:buFont typeface="+mj-lt"/>
              <a:buAutoNum type="arabicPeriod"/>
            </a:pPr>
            <a:r>
              <a:rPr lang="en-US" sz="1200" dirty="0">
                <a:latin typeface="Foot Locker" panose="02000503000000020003" pitchFamily="50" charset="0"/>
              </a:rPr>
              <a:t>Once you have the admin user created, you need to reset their password manually; navigate to Users &amp; Authorizations &gt;User Management </a:t>
            </a:r>
          </a:p>
          <a:p>
            <a:pPr marL="228600" indent="-228600">
              <a:buFont typeface="+mj-lt"/>
              <a:buAutoNum type="arabicPeriod"/>
            </a:pPr>
            <a:r>
              <a:rPr lang="en-US" sz="1200" dirty="0">
                <a:latin typeface="Foot Locker" panose="02000503000000020003" pitchFamily="50" charset="0"/>
              </a:rPr>
              <a:t>Search for the new admin user and click on their profile</a:t>
            </a:r>
          </a:p>
          <a:p>
            <a:pPr marL="228600" indent="-228600">
              <a:buFont typeface="+mj-lt"/>
              <a:buAutoNum type="arabicPeriod"/>
            </a:pPr>
            <a:r>
              <a:rPr lang="en-US" sz="1200" dirty="0">
                <a:latin typeface="Foot Locker" panose="02000503000000020003" pitchFamily="50" charset="0"/>
              </a:rPr>
              <a:t>Click on Authentication &gt; Password Details </a:t>
            </a:r>
          </a:p>
          <a:p>
            <a:pPr marL="228600" indent="-228600">
              <a:buFont typeface="+mj-lt"/>
              <a:buAutoNum type="arabicPeriod"/>
            </a:pPr>
            <a:r>
              <a:rPr lang="en-US" sz="1200" dirty="0">
                <a:latin typeface="Foot Locker" panose="02000503000000020003" pitchFamily="50" charset="0"/>
              </a:rPr>
              <a:t>Set an Initial Password, this will allow the user to login to the tenant now</a:t>
            </a:r>
          </a:p>
          <a:p>
            <a:pPr marL="228600" indent="-228600">
              <a:buFont typeface="+mj-lt"/>
              <a:buAutoNum type="arabicPeriod"/>
            </a:pPr>
            <a:endParaRPr lang="en-US" sz="1200" dirty="0">
              <a:latin typeface="Foot Locker" panose="02000503000000020003" pitchFamily="50" charset="0"/>
            </a:endParaRPr>
          </a:p>
        </p:txBody>
      </p:sp>
      <p:pic>
        <p:nvPicPr>
          <p:cNvPr id="18" name="Picture 17">
            <a:extLst>
              <a:ext uri="{FF2B5EF4-FFF2-40B4-BE49-F238E27FC236}">
                <a16:creationId xmlns:a16="http://schemas.microsoft.com/office/drawing/2014/main" id="{32774553-5EBA-489F-E0C7-EAC7BD1E04F3}"/>
              </a:ext>
            </a:extLst>
          </p:cNvPr>
          <p:cNvPicPr>
            <a:picLocks noChangeAspect="1"/>
          </p:cNvPicPr>
          <p:nvPr/>
        </p:nvPicPr>
        <p:blipFill>
          <a:blip r:embed="rId6"/>
          <a:stretch>
            <a:fillRect/>
          </a:stretch>
        </p:blipFill>
        <p:spPr>
          <a:xfrm>
            <a:off x="3928654" y="1626326"/>
            <a:ext cx="1371384" cy="1656010"/>
          </a:xfrm>
          <a:prstGeom prst="rect">
            <a:avLst/>
          </a:prstGeom>
          <a:ln>
            <a:noFill/>
          </a:ln>
          <a:effectLst>
            <a:outerShdw blurRad="292100" dist="139700" dir="2700000" algn="tl" rotWithShape="0">
              <a:srgbClr val="333333">
                <a:alpha val="65000"/>
              </a:srgbClr>
            </a:outerShdw>
          </a:effectLst>
        </p:spPr>
      </p:pic>
      <p:pic>
        <p:nvPicPr>
          <p:cNvPr id="20" name="Picture 19">
            <a:extLst>
              <a:ext uri="{FF2B5EF4-FFF2-40B4-BE49-F238E27FC236}">
                <a16:creationId xmlns:a16="http://schemas.microsoft.com/office/drawing/2014/main" id="{6BC40E49-F5C9-32C7-0BF8-42C98E74C168}"/>
              </a:ext>
            </a:extLst>
          </p:cNvPr>
          <p:cNvPicPr>
            <a:picLocks noChangeAspect="1"/>
          </p:cNvPicPr>
          <p:nvPr/>
        </p:nvPicPr>
        <p:blipFill>
          <a:blip r:embed="rId7"/>
          <a:stretch>
            <a:fillRect/>
          </a:stretch>
        </p:blipFill>
        <p:spPr>
          <a:xfrm>
            <a:off x="759390" y="3282336"/>
            <a:ext cx="460549" cy="225041"/>
          </a:xfrm>
          <a:prstGeom prst="rect">
            <a:avLst/>
          </a:prstGeom>
        </p:spPr>
      </p:pic>
      <p:pic>
        <p:nvPicPr>
          <p:cNvPr id="22" name="Picture 21">
            <a:extLst>
              <a:ext uri="{FF2B5EF4-FFF2-40B4-BE49-F238E27FC236}">
                <a16:creationId xmlns:a16="http://schemas.microsoft.com/office/drawing/2014/main" id="{9509DC61-8C34-C51D-EF33-EB84C6A2638D}"/>
              </a:ext>
            </a:extLst>
          </p:cNvPr>
          <p:cNvPicPr>
            <a:picLocks noChangeAspect="1"/>
          </p:cNvPicPr>
          <p:nvPr/>
        </p:nvPicPr>
        <p:blipFill>
          <a:blip r:embed="rId8"/>
          <a:stretch>
            <a:fillRect/>
          </a:stretch>
        </p:blipFill>
        <p:spPr>
          <a:xfrm>
            <a:off x="3959907" y="3394856"/>
            <a:ext cx="2646208" cy="2220040"/>
          </a:xfrm>
          <a:prstGeom prst="rect">
            <a:avLst/>
          </a:prstGeom>
          <a:ln>
            <a:noFill/>
          </a:ln>
          <a:effectLst>
            <a:outerShdw blurRad="292100" dist="139700" dir="2700000" algn="tl" rotWithShape="0">
              <a:srgbClr val="333333">
                <a:alpha val="65000"/>
              </a:srgbClr>
            </a:outerShdw>
          </a:effectLst>
        </p:spPr>
      </p:pic>
      <p:pic>
        <p:nvPicPr>
          <p:cNvPr id="23" name="Picture 22">
            <a:extLst>
              <a:ext uri="{FF2B5EF4-FFF2-40B4-BE49-F238E27FC236}">
                <a16:creationId xmlns:a16="http://schemas.microsoft.com/office/drawing/2014/main" id="{3BB14D56-C8C9-7893-B094-71EBDCC83683}"/>
              </a:ext>
            </a:extLst>
          </p:cNvPr>
          <p:cNvPicPr>
            <a:picLocks noChangeAspect="1"/>
          </p:cNvPicPr>
          <p:nvPr/>
        </p:nvPicPr>
        <p:blipFill>
          <a:blip r:embed="rId3"/>
          <a:stretch>
            <a:fillRect/>
          </a:stretch>
        </p:blipFill>
        <p:spPr>
          <a:xfrm flipV="1">
            <a:off x="0" y="5843175"/>
            <a:ext cx="6858000" cy="103517"/>
          </a:xfrm>
          <a:prstGeom prst="rect">
            <a:avLst/>
          </a:prstGeom>
        </p:spPr>
      </p:pic>
      <p:sp>
        <p:nvSpPr>
          <p:cNvPr id="24" name="TextBox 23">
            <a:extLst>
              <a:ext uri="{FF2B5EF4-FFF2-40B4-BE49-F238E27FC236}">
                <a16:creationId xmlns:a16="http://schemas.microsoft.com/office/drawing/2014/main" id="{3A1D721D-ED25-F04D-E7D3-EDDAAF860EA8}"/>
              </a:ext>
            </a:extLst>
          </p:cNvPr>
          <p:cNvSpPr txBox="1"/>
          <p:nvPr/>
        </p:nvSpPr>
        <p:spPr>
          <a:xfrm>
            <a:off x="0" y="5995192"/>
            <a:ext cx="6858000" cy="1938992"/>
          </a:xfrm>
          <a:prstGeom prst="rect">
            <a:avLst/>
          </a:prstGeom>
          <a:noFill/>
        </p:spPr>
        <p:txBody>
          <a:bodyPr wrap="square" rtlCol="0">
            <a:spAutoFit/>
          </a:bodyPr>
          <a:lstStyle/>
          <a:p>
            <a:r>
              <a:rPr lang="en-US" sz="1200" dirty="0">
                <a:latin typeface="Foot Locker" panose="02000503000000020003" pitchFamily="50" charset="0"/>
              </a:rPr>
              <a:t>Maintaining the IAS Tenant</a:t>
            </a:r>
          </a:p>
          <a:p>
            <a:endParaRPr lang="en-US" sz="1200" dirty="0">
              <a:latin typeface="Foot Locker" panose="02000503000000020003" pitchFamily="50" charset="0"/>
            </a:endParaRPr>
          </a:p>
          <a:p>
            <a:r>
              <a:rPr lang="en-US" sz="1200" dirty="0">
                <a:latin typeface="Foot Locker" panose="02000503000000020003" pitchFamily="50" charset="0"/>
              </a:rPr>
              <a:t>As a best practice, it is advised to ensure that the number of users in User Management equates to the number of users in SuccessFactors. </a:t>
            </a:r>
          </a:p>
          <a:p>
            <a:endParaRPr lang="en-US" sz="1200" dirty="0">
              <a:latin typeface="Foot Locker" panose="02000503000000020003" pitchFamily="50" charset="0"/>
            </a:endParaRPr>
          </a:p>
          <a:p>
            <a:r>
              <a:rPr lang="en-US" sz="1200" b="1" dirty="0">
                <a:solidFill>
                  <a:srgbClr val="FF0000"/>
                </a:solidFill>
                <a:latin typeface="Foot Locker" panose="02000503000000020003" pitchFamily="50" charset="0"/>
              </a:rPr>
              <a:t>Note: </a:t>
            </a:r>
            <a:r>
              <a:rPr lang="en-US" sz="1200" dirty="0">
                <a:latin typeface="Foot Locker" panose="02000503000000020003" pitchFamily="50" charset="0"/>
              </a:rPr>
              <a:t>The count may off due to some users not having a unique Foot Locker email address in SuccessFactors. That is okay as those users do not access the system. You are looking to ensure the number of users with active email addresses matches the number of users in SuccessFactors with email addresses.  </a:t>
            </a:r>
          </a:p>
          <a:p>
            <a:endParaRPr lang="en-US" sz="1200" dirty="0">
              <a:latin typeface="Foot Locker" panose="02000503000000020003" pitchFamily="50" charset="0"/>
            </a:endParaRPr>
          </a:p>
        </p:txBody>
      </p:sp>
      <p:pic>
        <p:nvPicPr>
          <p:cNvPr id="25" name="Picture 24">
            <a:extLst>
              <a:ext uri="{FF2B5EF4-FFF2-40B4-BE49-F238E27FC236}">
                <a16:creationId xmlns:a16="http://schemas.microsoft.com/office/drawing/2014/main" id="{548D93D0-6CC4-7A0B-F223-3A9293D4EA9D}"/>
              </a:ext>
            </a:extLst>
          </p:cNvPr>
          <p:cNvPicPr>
            <a:picLocks noChangeAspect="1"/>
          </p:cNvPicPr>
          <p:nvPr/>
        </p:nvPicPr>
        <p:blipFill>
          <a:blip r:embed="rId3"/>
          <a:stretch>
            <a:fillRect/>
          </a:stretch>
        </p:blipFill>
        <p:spPr>
          <a:xfrm flipV="1">
            <a:off x="0" y="7744314"/>
            <a:ext cx="6858000" cy="103517"/>
          </a:xfrm>
          <a:prstGeom prst="rect">
            <a:avLst/>
          </a:prstGeom>
        </p:spPr>
      </p:pic>
      <p:sp>
        <p:nvSpPr>
          <p:cNvPr id="26" name="TextBox 25">
            <a:extLst>
              <a:ext uri="{FF2B5EF4-FFF2-40B4-BE49-F238E27FC236}">
                <a16:creationId xmlns:a16="http://schemas.microsoft.com/office/drawing/2014/main" id="{0D1E58F8-CF60-07F2-0ED9-F5486CB4FD60}"/>
              </a:ext>
            </a:extLst>
          </p:cNvPr>
          <p:cNvSpPr txBox="1"/>
          <p:nvPr/>
        </p:nvSpPr>
        <p:spPr>
          <a:xfrm>
            <a:off x="0" y="7850602"/>
            <a:ext cx="3928654" cy="4154984"/>
          </a:xfrm>
          <a:prstGeom prst="rect">
            <a:avLst/>
          </a:prstGeom>
          <a:noFill/>
        </p:spPr>
        <p:txBody>
          <a:bodyPr wrap="square" rtlCol="0">
            <a:spAutoFit/>
          </a:bodyPr>
          <a:lstStyle/>
          <a:p>
            <a:r>
              <a:rPr lang="en-US" sz="1200" dirty="0">
                <a:latin typeface="Foot Locker" panose="02000503000000020003" pitchFamily="50" charset="0"/>
              </a:rPr>
              <a:t>Email Notifications</a:t>
            </a:r>
          </a:p>
          <a:p>
            <a:endParaRPr lang="en-US" sz="1200" dirty="0">
              <a:latin typeface="Foot Locker" panose="02000503000000020003" pitchFamily="50" charset="0"/>
            </a:endParaRPr>
          </a:p>
          <a:p>
            <a:r>
              <a:rPr lang="en-US" sz="1200" dirty="0">
                <a:latin typeface="Foot Locker" panose="02000503000000020003" pitchFamily="50" charset="0"/>
              </a:rPr>
              <a:t>Emails are received to the </a:t>
            </a:r>
            <a:r>
              <a:rPr lang="en-US" sz="1200" dirty="0">
                <a:latin typeface="Foot Locker" panose="02000503000000020003" pitchFamily="50" charset="0"/>
                <a:hlinkClick r:id="rId9"/>
              </a:rPr>
              <a:t>HRIS.SuccessFactors@footlocker.com</a:t>
            </a:r>
            <a:r>
              <a:rPr lang="en-US" sz="1200" dirty="0">
                <a:latin typeface="Foot Locker" panose="02000503000000020003" pitchFamily="50" charset="0"/>
              </a:rPr>
              <a:t> inbox only if the IAS Tenant has an error that occurred in the daily user update cycle. </a:t>
            </a:r>
          </a:p>
          <a:p>
            <a:endParaRPr lang="en-US" sz="1200" dirty="0">
              <a:latin typeface="Foot Locker" panose="02000503000000020003" pitchFamily="50" charset="0"/>
            </a:endParaRPr>
          </a:p>
          <a:p>
            <a:r>
              <a:rPr lang="en-US" sz="1200" dirty="0">
                <a:latin typeface="Foot Locker" panose="02000503000000020003" pitchFamily="50" charset="0"/>
              </a:rPr>
              <a:t>If a job finished with an error, you will need to review the error and try to troubleshoot it depending on the error.</a:t>
            </a:r>
          </a:p>
          <a:p>
            <a:endParaRPr lang="en-US" sz="1200" dirty="0">
              <a:latin typeface="Foot Locker" panose="02000503000000020003" pitchFamily="50" charset="0"/>
            </a:endParaRPr>
          </a:p>
          <a:p>
            <a:r>
              <a:rPr lang="en-US" sz="1200" dirty="0">
                <a:latin typeface="Foot Locker" panose="02000503000000020003" pitchFamily="50" charset="0"/>
              </a:rPr>
              <a:t>Access the IAS Admin tenant &gt; Identity Provisioning &gt; Provisioning Logs</a:t>
            </a:r>
          </a:p>
          <a:p>
            <a:endParaRPr lang="en-US" sz="1200" dirty="0">
              <a:latin typeface="Foot Locker" panose="02000503000000020003" pitchFamily="50" charset="0"/>
            </a:endParaRPr>
          </a:p>
          <a:p>
            <a:r>
              <a:rPr lang="en-US" sz="1200" dirty="0">
                <a:latin typeface="Foot Locker" panose="02000503000000020003" pitchFamily="50" charset="0"/>
              </a:rPr>
              <a:t>Review the log that finished with Errors and identify what the error message states in the Failed Entities. </a:t>
            </a:r>
          </a:p>
          <a:p>
            <a:endParaRPr lang="en-US" sz="1200" dirty="0">
              <a:latin typeface="Foot Locker" panose="02000503000000020003" pitchFamily="50" charset="0"/>
            </a:endParaRPr>
          </a:p>
          <a:p>
            <a:r>
              <a:rPr lang="en-US" sz="1200" b="1" dirty="0">
                <a:solidFill>
                  <a:srgbClr val="FF0000"/>
                </a:solidFill>
                <a:latin typeface="Foot Locker" panose="02000503000000020003" pitchFamily="50" charset="0"/>
              </a:rPr>
              <a:t>Note: </a:t>
            </a:r>
            <a:r>
              <a:rPr lang="en-US" sz="1200" dirty="0">
                <a:latin typeface="Foot Locker" panose="02000503000000020003" pitchFamily="50" charset="0"/>
              </a:rPr>
              <a:t>the logs will only show the last 30 days worth of logs in the Job Execution Logs</a:t>
            </a:r>
          </a:p>
          <a:p>
            <a:endParaRPr lang="en-US" sz="1200" dirty="0">
              <a:latin typeface="Foot Locker" panose="02000503000000020003" pitchFamily="50" charset="0"/>
            </a:endParaRPr>
          </a:p>
          <a:p>
            <a:endParaRPr lang="en-US" sz="1200" dirty="0">
              <a:latin typeface="Foot Locker" panose="02000503000000020003" pitchFamily="50" charset="0"/>
            </a:endParaRPr>
          </a:p>
          <a:p>
            <a:endParaRPr lang="en-US" sz="1200" dirty="0">
              <a:latin typeface="Foot Locker" panose="02000503000000020003" pitchFamily="50" charset="0"/>
            </a:endParaRPr>
          </a:p>
          <a:p>
            <a:endParaRPr lang="en-US" sz="1200" dirty="0">
              <a:latin typeface="Foot Locker" panose="02000503000000020003" pitchFamily="50" charset="0"/>
            </a:endParaRPr>
          </a:p>
        </p:txBody>
      </p:sp>
      <p:pic>
        <p:nvPicPr>
          <p:cNvPr id="28" name="Picture 27">
            <a:extLst>
              <a:ext uri="{FF2B5EF4-FFF2-40B4-BE49-F238E27FC236}">
                <a16:creationId xmlns:a16="http://schemas.microsoft.com/office/drawing/2014/main" id="{D8C5E123-5A7C-4D85-0CB5-D01E9F66CD84}"/>
              </a:ext>
            </a:extLst>
          </p:cNvPr>
          <p:cNvPicPr>
            <a:picLocks noChangeAspect="1"/>
          </p:cNvPicPr>
          <p:nvPr/>
        </p:nvPicPr>
        <p:blipFill>
          <a:blip r:embed="rId10"/>
          <a:stretch>
            <a:fillRect/>
          </a:stretch>
        </p:blipFill>
        <p:spPr>
          <a:xfrm>
            <a:off x="3928654" y="8037701"/>
            <a:ext cx="2596171" cy="1645605"/>
          </a:xfrm>
          <a:prstGeom prst="rect">
            <a:avLst/>
          </a:prstGeom>
          <a:ln>
            <a:noFill/>
          </a:ln>
          <a:effectLst>
            <a:outerShdw blurRad="292100" dist="139700" dir="2700000" algn="tl" rotWithShape="0">
              <a:srgbClr val="333333">
                <a:alpha val="65000"/>
              </a:srgbClr>
            </a:outerShdw>
          </a:effectLst>
        </p:spPr>
      </p:pic>
      <p:pic>
        <p:nvPicPr>
          <p:cNvPr id="30" name="Picture 29">
            <a:extLst>
              <a:ext uri="{FF2B5EF4-FFF2-40B4-BE49-F238E27FC236}">
                <a16:creationId xmlns:a16="http://schemas.microsoft.com/office/drawing/2014/main" id="{B690F7C4-6DDF-F4FB-F4E7-6BB21E595959}"/>
              </a:ext>
            </a:extLst>
          </p:cNvPr>
          <p:cNvPicPr>
            <a:picLocks noChangeAspect="1"/>
          </p:cNvPicPr>
          <p:nvPr/>
        </p:nvPicPr>
        <p:blipFill>
          <a:blip r:embed="rId11"/>
          <a:stretch>
            <a:fillRect/>
          </a:stretch>
        </p:blipFill>
        <p:spPr>
          <a:xfrm>
            <a:off x="3928654" y="9831745"/>
            <a:ext cx="1203186" cy="10132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25569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0788C-4436-E3EC-9EBB-C889F16E45C3}"/>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B79BEC6C-B922-3525-6876-DF1EC133A413}"/>
              </a:ext>
            </a:extLst>
          </p:cNvPr>
          <p:cNvPicPr>
            <a:picLocks noChangeAspect="1"/>
          </p:cNvPicPr>
          <p:nvPr/>
        </p:nvPicPr>
        <p:blipFill>
          <a:blip r:embed="rId2"/>
          <a:stretch>
            <a:fillRect/>
          </a:stretch>
        </p:blipFill>
        <p:spPr>
          <a:xfrm>
            <a:off x="0" y="-1"/>
            <a:ext cx="6858000" cy="659639"/>
          </a:xfrm>
          <a:prstGeom prst="rect">
            <a:avLst/>
          </a:prstGeom>
        </p:spPr>
      </p:pic>
      <p:sp>
        <p:nvSpPr>
          <p:cNvPr id="10" name="TextBox 9">
            <a:extLst>
              <a:ext uri="{FF2B5EF4-FFF2-40B4-BE49-F238E27FC236}">
                <a16:creationId xmlns:a16="http://schemas.microsoft.com/office/drawing/2014/main" id="{874855CA-DF47-2E62-1ACC-B47FD9788886}"/>
              </a:ext>
            </a:extLst>
          </p:cNvPr>
          <p:cNvSpPr txBox="1"/>
          <p:nvPr/>
        </p:nvSpPr>
        <p:spPr>
          <a:xfrm>
            <a:off x="0" y="-1"/>
            <a:ext cx="6243484" cy="400110"/>
          </a:xfrm>
          <a:prstGeom prst="rect">
            <a:avLst/>
          </a:prstGeom>
          <a:noFill/>
        </p:spPr>
        <p:txBody>
          <a:bodyPr wrap="square" rtlCol="0">
            <a:spAutoFit/>
          </a:bodyPr>
          <a:lstStyle/>
          <a:p>
            <a:r>
              <a:rPr lang="en-US" sz="2000" b="1" dirty="0">
                <a:solidFill>
                  <a:schemeClr val="bg1"/>
                </a:solidFill>
                <a:latin typeface="Foot Locker" panose="02000503000000020003" pitchFamily="50" charset="0"/>
              </a:rPr>
              <a:t>SuccessFactors: IAS Administration (continued)</a:t>
            </a:r>
          </a:p>
        </p:txBody>
      </p:sp>
      <p:pic>
        <p:nvPicPr>
          <p:cNvPr id="11" name="Picture 10">
            <a:extLst>
              <a:ext uri="{FF2B5EF4-FFF2-40B4-BE49-F238E27FC236}">
                <a16:creationId xmlns:a16="http://schemas.microsoft.com/office/drawing/2014/main" id="{505133E6-3BFC-6C91-CB2D-ECF454573D4F}"/>
              </a:ext>
            </a:extLst>
          </p:cNvPr>
          <p:cNvPicPr>
            <a:picLocks noChangeAspect="1"/>
          </p:cNvPicPr>
          <p:nvPr/>
        </p:nvPicPr>
        <p:blipFill>
          <a:blip r:embed="rId3"/>
          <a:stretch>
            <a:fillRect/>
          </a:stretch>
        </p:blipFill>
        <p:spPr>
          <a:xfrm flipV="1">
            <a:off x="0" y="659636"/>
            <a:ext cx="6858000" cy="103517"/>
          </a:xfrm>
          <a:prstGeom prst="rect">
            <a:avLst/>
          </a:prstGeom>
        </p:spPr>
      </p:pic>
      <p:sp>
        <p:nvSpPr>
          <p:cNvPr id="12" name="TextBox 11">
            <a:extLst>
              <a:ext uri="{FF2B5EF4-FFF2-40B4-BE49-F238E27FC236}">
                <a16:creationId xmlns:a16="http://schemas.microsoft.com/office/drawing/2014/main" id="{3DD7176F-8B2F-C9C5-5FE8-7F0D4C551F33}"/>
              </a:ext>
            </a:extLst>
          </p:cNvPr>
          <p:cNvSpPr txBox="1"/>
          <p:nvPr/>
        </p:nvSpPr>
        <p:spPr>
          <a:xfrm>
            <a:off x="0" y="763153"/>
            <a:ext cx="6436723" cy="646331"/>
          </a:xfrm>
          <a:prstGeom prst="rect">
            <a:avLst/>
          </a:prstGeom>
          <a:noFill/>
        </p:spPr>
        <p:txBody>
          <a:bodyPr wrap="square" rtlCol="0">
            <a:spAutoFit/>
          </a:bodyPr>
          <a:lstStyle/>
          <a:p>
            <a:r>
              <a:rPr lang="en-US" sz="1200" dirty="0">
                <a:latin typeface="Foot Locker" panose="02000503000000020003" pitchFamily="50" charset="0"/>
              </a:rPr>
              <a:t>Use this guide to aid in the administration and maintenance of the Identity Authentication Service for SuccessFactors. </a:t>
            </a:r>
            <a:r>
              <a:rPr lang="en-US" sz="1200" b="1" dirty="0">
                <a:solidFill>
                  <a:srgbClr val="FF0000"/>
                </a:solidFill>
                <a:latin typeface="Foot Locker" panose="02000503000000020003" pitchFamily="50" charset="0"/>
              </a:rPr>
              <a:t>Note:</a:t>
            </a:r>
            <a:r>
              <a:rPr lang="en-US" sz="1200" dirty="0">
                <a:latin typeface="Foot Locker" panose="02000503000000020003" pitchFamily="50" charset="0"/>
              </a:rPr>
              <a:t> IAS is used to ensure that our users are able to securely access SuccessFactors   </a:t>
            </a:r>
          </a:p>
        </p:txBody>
      </p:sp>
      <p:pic>
        <p:nvPicPr>
          <p:cNvPr id="13" name="Picture 12">
            <a:extLst>
              <a:ext uri="{FF2B5EF4-FFF2-40B4-BE49-F238E27FC236}">
                <a16:creationId xmlns:a16="http://schemas.microsoft.com/office/drawing/2014/main" id="{0072DFB3-915A-8428-BF00-D3242CB1BEB1}"/>
              </a:ext>
            </a:extLst>
          </p:cNvPr>
          <p:cNvPicPr>
            <a:picLocks noChangeAspect="1"/>
          </p:cNvPicPr>
          <p:nvPr/>
        </p:nvPicPr>
        <p:blipFill>
          <a:blip r:embed="rId3"/>
          <a:stretch>
            <a:fillRect/>
          </a:stretch>
        </p:blipFill>
        <p:spPr>
          <a:xfrm flipV="1">
            <a:off x="0" y="1409484"/>
            <a:ext cx="6858000" cy="103517"/>
          </a:xfrm>
          <a:prstGeom prst="rect">
            <a:avLst/>
          </a:prstGeom>
        </p:spPr>
      </p:pic>
      <p:sp>
        <p:nvSpPr>
          <p:cNvPr id="2" name="TextBox 1">
            <a:extLst>
              <a:ext uri="{FF2B5EF4-FFF2-40B4-BE49-F238E27FC236}">
                <a16:creationId xmlns:a16="http://schemas.microsoft.com/office/drawing/2014/main" id="{1A751567-9B1C-2BED-0A07-B5BB0FF0DA8F}"/>
              </a:ext>
            </a:extLst>
          </p:cNvPr>
          <p:cNvSpPr txBox="1"/>
          <p:nvPr/>
        </p:nvSpPr>
        <p:spPr>
          <a:xfrm>
            <a:off x="0" y="1512999"/>
            <a:ext cx="6858000" cy="3970318"/>
          </a:xfrm>
          <a:prstGeom prst="rect">
            <a:avLst/>
          </a:prstGeom>
          <a:noFill/>
        </p:spPr>
        <p:txBody>
          <a:bodyPr wrap="square" rtlCol="0">
            <a:spAutoFit/>
          </a:bodyPr>
          <a:lstStyle/>
          <a:p>
            <a:r>
              <a:rPr lang="en-US" sz="1200" dirty="0">
                <a:latin typeface="Foot Locker" panose="02000503000000020003" pitchFamily="50" charset="0"/>
              </a:rPr>
              <a:t>Potential Errors and Troubleshooting</a:t>
            </a:r>
          </a:p>
          <a:p>
            <a:r>
              <a:rPr lang="en-US" sz="1200" dirty="0">
                <a:latin typeface="Foot Locker" panose="02000503000000020003" pitchFamily="50" charset="0"/>
                <a:hlinkClick r:id="rId4"/>
              </a:rPr>
              <a:t>Helpful SAP Resource</a:t>
            </a:r>
            <a:endParaRPr lang="en-US" sz="1200" dirty="0">
              <a:latin typeface="Foot Locker" panose="02000503000000020003" pitchFamily="50" charset="0"/>
            </a:endParaRPr>
          </a:p>
          <a:p>
            <a:endParaRPr lang="en-US" sz="1200" dirty="0">
              <a:latin typeface="Foot Locker" panose="02000503000000020003" pitchFamily="50" charset="0"/>
            </a:endParaRPr>
          </a:p>
          <a:p>
            <a:r>
              <a:rPr lang="en-US" sz="1200" dirty="0">
                <a:latin typeface="Foot Locker" panose="02000503000000020003" pitchFamily="50" charset="0"/>
              </a:rPr>
              <a:t>Email is a duplicate</a:t>
            </a:r>
          </a:p>
          <a:p>
            <a:pPr marL="171450" indent="-171450">
              <a:buFont typeface="Arial" panose="020B0604020202020204" pitchFamily="34" charset="0"/>
              <a:buChar char="•"/>
            </a:pPr>
            <a:r>
              <a:rPr lang="en-US" sz="1200" dirty="0">
                <a:latin typeface="Foot Locker" panose="02000503000000020003" pitchFamily="50" charset="0"/>
              </a:rPr>
              <a:t>Work back in SuccessFactors and pinpoint the duplicate email account; may need to work with development to update the user import file or manually change the duplicate email address and inactive the duplicate if it was sent over mistakenly</a:t>
            </a:r>
          </a:p>
          <a:p>
            <a:pPr marL="171450" indent="-171450">
              <a:buFont typeface="Arial" panose="020B0604020202020204" pitchFamily="34" charset="0"/>
              <a:buChar char="•"/>
            </a:pPr>
            <a:endParaRPr lang="en-US" sz="1200" dirty="0">
              <a:latin typeface="Foot Locker" panose="02000503000000020003" pitchFamily="50" charset="0"/>
            </a:endParaRPr>
          </a:p>
          <a:p>
            <a:r>
              <a:rPr lang="en-US" sz="1200" dirty="0">
                <a:latin typeface="Foot Locker" panose="02000503000000020003" pitchFamily="50" charset="0"/>
              </a:rPr>
              <a:t>No User Found</a:t>
            </a:r>
          </a:p>
          <a:p>
            <a:pPr marL="171450" indent="-171450">
              <a:buFont typeface="Arial" panose="020B0604020202020204" pitchFamily="34" charset="0"/>
              <a:buChar char="•"/>
            </a:pPr>
            <a:r>
              <a:rPr lang="en-US" sz="1200" dirty="0">
                <a:latin typeface="Foot Locker" panose="02000503000000020003" pitchFamily="50" charset="0"/>
              </a:rPr>
              <a:t>The user may not be active in SuccessFactors yet, wait until active date and recheck latest log to see if the status updated</a:t>
            </a:r>
          </a:p>
          <a:p>
            <a:endParaRPr lang="en-US" sz="1200" dirty="0">
              <a:latin typeface="Foot Locker" panose="02000503000000020003" pitchFamily="50" charset="0"/>
            </a:endParaRPr>
          </a:p>
          <a:p>
            <a:r>
              <a:rPr lang="en-US" sz="1200" dirty="0">
                <a:latin typeface="Foot Locker" panose="02000503000000020003" pitchFamily="50" charset="0"/>
              </a:rPr>
              <a:t>Email has a unique accent mark from another language </a:t>
            </a:r>
          </a:p>
          <a:p>
            <a:pPr marL="171450" indent="-171450">
              <a:buFont typeface="Arial" panose="020B0604020202020204" pitchFamily="34" charset="0"/>
              <a:buChar char="•"/>
            </a:pPr>
            <a:r>
              <a:rPr lang="en-US" sz="1200" dirty="0">
                <a:latin typeface="Foot Locker" panose="02000503000000020003" pitchFamily="50" charset="0"/>
              </a:rPr>
              <a:t>Email Rizing to add in a transformation for the language to allow for that special character/letter to feed over to the logs</a:t>
            </a:r>
          </a:p>
          <a:p>
            <a:endParaRPr lang="en-US" sz="1200" dirty="0">
              <a:latin typeface="Foot Locker" panose="02000503000000020003" pitchFamily="50" charset="0"/>
            </a:endParaRPr>
          </a:p>
          <a:p>
            <a:r>
              <a:rPr lang="en-US" sz="1200" dirty="0">
                <a:latin typeface="Foot Locker" panose="02000503000000020003" pitchFamily="50" charset="0"/>
              </a:rPr>
              <a:t>Submit a ticket to Rizing for any other inquiries if there are errors that cannot be resolved with our developer team/HRIS.</a:t>
            </a:r>
          </a:p>
          <a:p>
            <a:endParaRPr lang="en-US" sz="1200" dirty="0">
              <a:latin typeface="Foot Locker" panose="02000503000000020003" pitchFamily="50" charset="0"/>
            </a:endParaRPr>
          </a:p>
          <a:p>
            <a:endParaRPr lang="en-US" sz="1200" dirty="0">
              <a:latin typeface="Foot Locker" panose="02000503000000020003" pitchFamily="50" charset="0"/>
            </a:endParaRPr>
          </a:p>
          <a:p>
            <a:endParaRPr lang="en-US" sz="1200" dirty="0">
              <a:latin typeface="Foot Locker" panose="02000503000000020003" pitchFamily="50" charset="0"/>
            </a:endParaRPr>
          </a:p>
        </p:txBody>
      </p:sp>
    </p:spTree>
    <p:extLst>
      <p:ext uri="{BB962C8B-B14F-4D97-AF65-F5344CB8AC3E}">
        <p14:creationId xmlns:p14="http://schemas.microsoft.com/office/powerpoint/2010/main" val="29702171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6b83e9d4-1f85-4e06-a066-aef1d46ef089}" enabled="1" method="Standard" siteId="{3698556c-48eb-4511-8a0e-5fb6b7ebb01f}" contentBits="0" removed="0"/>
</clbl:labelList>
</file>

<file path=docProps/app.xml><?xml version="1.0" encoding="utf-8"?>
<Properties xmlns="http://schemas.openxmlformats.org/officeDocument/2006/extended-properties" xmlns:vt="http://schemas.openxmlformats.org/officeDocument/2006/docPropsVTypes">
  <Template>Office Theme</Template>
  <TotalTime>36</TotalTime>
  <Words>535</Words>
  <Application>Microsoft Office PowerPoint</Application>
  <PresentationFormat>Widescreen</PresentationFormat>
  <Paragraphs>51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vt:lpstr>
      <vt:lpstr>Aptos Display</vt:lpstr>
      <vt:lpstr>Arial</vt:lpstr>
      <vt:lpstr>Calibri</vt:lpstr>
      <vt:lpstr>Foot Locker</vt:lpstr>
      <vt:lpstr>Office Theme</vt:lpstr>
      <vt:lpstr>PowerPoint Presentation</vt:lpstr>
      <vt:lpstr>PowerPoint Presentation</vt:lpstr>
    </vt:vector>
  </TitlesOfParts>
  <Company>Foot Locker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Ashley Aquino</dc:creator>
  <cp:lastModifiedBy>Ashley Aquino</cp:lastModifiedBy>
  <cp:revision>5</cp:revision>
  <dcterms:created xsi:type="dcterms:W3CDTF">2025-01-08T13:34:40Z</dcterms:created>
  <dcterms:modified xsi:type="dcterms:W3CDTF">2025-01-08T14:31:21Z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Theme:8</vt:lpwstr>
  </property>
  <property fmtid="{D5CDD505-2E9C-101B-9397-08002B2CF9AE}" pid="3" name="ClassificationContentMarkingFooterText">
    <vt:lpwstr>Foot Locker - Internal Use Only</vt:lpwstr>
  </property>
</Properties>
</file>